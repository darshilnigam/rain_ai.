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</p:sldMasterIdLst>
  <p:notesMasterIdLst>
    <p:notesMasterId r:id="rId8"/>
  </p:notesMasterIdLst>
  <p:sldIdLst>
    <p:sldId id="285" r:id="rId2"/>
    <p:sldId id="286" r:id="rId3"/>
    <p:sldId id="287" r:id="rId4"/>
    <p:sldId id="288" r:id="rId5"/>
    <p:sldId id="289" r:id="rId6"/>
    <p:sldId id="290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90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8/17/2026</a:t>
            </a:fld>
            <a:endParaRPr lang="en-US"/>
          </a:p>
        </p:txBody>
      </p:sp>
      <p:sp>
        <p:nvSpPr>
          <p:cNvPr id="104869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04869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4869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4869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3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2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2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486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0486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32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3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8/17/2026</a:t>
            </a:fld>
            <a:endParaRPr lang="en-US"/>
          </a:p>
        </p:txBody>
      </p:sp>
      <p:sp>
        <p:nvSpPr>
          <p:cNvPr id="104863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3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8/17/2026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2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8/17/2026</a:t>
            </a:fld>
            <a:endParaRPr lang="en-US"/>
          </a:p>
        </p:txBody>
      </p:sp>
      <p:sp>
        <p:nvSpPr>
          <p:cNvPr id="10486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6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7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8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8/17/2026</a:t>
            </a:fld>
            <a:endParaRPr lang="en-US"/>
          </a:p>
        </p:txBody>
      </p:sp>
      <p:sp>
        <p:nvSpPr>
          <p:cNvPr id="104867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7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8/17/2026</a:t>
            </a:fld>
            <a:endParaRPr lang="en-US"/>
          </a:p>
        </p:txBody>
      </p:sp>
      <p:sp>
        <p:nvSpPr>
          <p:cNvPr id="104867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7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8/17/2026</a:t>
            </a:fld>
            <a:endParaRPr lang="en-US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8/17/2026</a:t>
            </a:fld>
            <a:endParaRPr lang="en-US"/>
          </a:p>
        </p:txBody>
      </p:sp>
      <p:sp>
        <p:nvSpPr>
          <p:cNvPr id="104868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8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4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8/17/2026</a:t>
            </a:fld>
            <a:endParaRPr lang="en-US"/>
          </a:p>
        </p:txBody>
      </p:sp>
      <p:sp>
        <p:nvSpPr>
          <p:cNvPr id="104868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8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1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1048652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8/17/2026</a:t>
            </a:fld>
            <a:endParaRPr lang="en-US"/>
          </a:p>
        </p:txBody>
      </p:sp>
      <p:sp>
        <p:nvSpPr>
          <p:cNvPr id="10486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7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8/17/2026</a:t>
            </a:fld>
            <a:endParaRPr lang="en-US"/>
          </a:p>
        </p:txBody>
      </p:sp>
      <p:sp>
        <p:nvSpPr>
          <p:cNvPr id="10486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8/17/2026</a:t>
            </a:fld>
            <a:endParaRPr lang="en-US"/>
          </a:p>
        </p:txBody>
      </p:sp>
      <p:sp>
        <p:nvSpPr>
          <p:cNvPr id="104864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@SIH Idea submission- Template</a:t>
            </a:r>
          </a:p>
        </p:txBody>
      </p:sp>
      <p:sp>
        <p:nvSpPr>
          <p:cNvPr id="104864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8/17/2026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r>
              <a:rPr lang="en-US"/>
              <a:t>@SIH Idea submission- Template</a:t>
            </a:r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97159" name="Rounded Rectangle 2097158"/>
          <p:cNvSpPr/>
          <p:nvPr/>
        </p:nvSpPr>
        <p:spPr>
          <a:xfrm>
            <a:off x="731520" y="685800"/>
            <a:ext cx="6172200" cy="5486400"/>
          </a:xfrm>
          <a:prstGeom prst="roundRect">
            <a:avLst/>
          </a:prstGeom>
          <a:solidFill>
            <a:srgbClr val="0F172A"/>
          </a:solidFill>
          <a:ln w="2222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0" name="Rounded Rectangle 2097159"/>
          <p:cNvSpPr/>
          <p:nvPr/>
        </p:nvSpPr>
        <p:spPr>
          <a:xfrm>
            <a:off x="1097280" y="1033272"/>
            <a:ext cx="2926080" cy="329184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1" name="TextBox 2097160"/>
          <p:cNvSpPr txBox="1"/>
          <p:nvPr/>
        </p:nvSpPr>
        <p:spPr>
          <a:xfrm>
            <a:off x="1097280" y="1069848"/>
            <a:ext cx="29260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22D3EE"/>
                </a:solidFill>
                <a:latin typeface="Arial"/>
              </a:rPr>
              <a:t>SMART INDIA HACKATHON 2026</a:t>
            </a:r>
          </a:p>
        </p:txBody>
      </p:sp>
      <p:sp>
        <p:nvSpPr>
          <p:cNvPr id="2097162" name="TextBox 2097161"/>
          <p:cNvSpPr txBox="1"/>
          <p:nvPr/>
        </p:nvSpPr>
        <p:spPr>
          <a:xfrm>
            <a:off x="1097280" y="1463040"/>
            <a:ext cx="544068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Arial Black"/>
              </a:rPr>
              <a:t>R.A.I.</a:t>
            </a:r>
          </a:p>
          <a:p>
            <a:pPr>
              <a:spcBef>
                <a:spcPts val="200"/>
              </a:spcBef>
            </a:pPr>
            <a:r>
              <a:rPr sz="2100" b="1">
                <a:solidFill>
                  <a:srgbClr val="22D3EE"/>
                </a:solidFill>
                <a:latin typeface="Arial"/>
              </a:rPr>
              <a:t>Rainfall Artificial Intelligence</a:t>
            </a:r>
          </a:p>
          <a:p>
            <a:pPr>
              <a:spcBef>
                <a:spcPts val="800"/>
              </a:spcBef>
            </a:pPr>
            <a:r>
              <a:rPr sz="1450" b="1">
                <a:solidFill>
                  <a:srgbClr val="ECFEFF"/>
                </a:solidFill>
                <a:latin typeface="Arial"/>
              </a:rPr>
              <a:t>Explainable AI-Based Rainfall Intelligence &amp; Decision Support Platform</a:t>
            </a:r>
          </a:p>
        </p:txBody>
      </p:sp>
      <p:sp>
        <p:nvSpPr>
          <p:cNvPr id="2097163" name="Rectangle 2097162"/>
          <p:cNvSpPr/>
          <p:nvPr/>
        </p:nvSpPr>
        <p:spPr>
          <a:xfrm>
            <a:off x="1097280" y="3611880"/>
            <a:ext cx="5440680" cy="182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4" name="Rounded Rectangle 2097163"/>
          <p:cNvSpPr/>
          <p:nvPr/>
        </p:nvSpPr>
        <p:spPr>
          <a:xfrm>
            <a:off x="1097280" y="3776472"/>
            <a:ext cx="5440680" cy="1188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5" name="TextBox 2097164"/>
          <p:cNvSpPr txBox="1"/>
          <p:nvPr/>
        </p:nvSpPr>
        <p:spPr>
          <a:xfrm>
            <a:off x="1280160" y="3886200"/>
            <a:ext cx="50749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i="1">
                <a:solidFill>
                  <a:srgbClr val="F1F5F9"/>
                </a:solidFill>
                <a:latin typeface="Georgia"/>
              </a:rPr>
              <a:t>“R.A.I. converts weather forecasts into explainable decisions — not just 'Will it rain?', but 'Could it become dangerous, why, where, and what should we do?'”</a:t>
            </a:r>
          </a:p>
        </p:txBody>
      </p:sp>
      <p:sp>
        <p:nvSpPr>
          <p:cNvPr id="2097166" name="Rounded Rectangle 2097165"/>
          <p:cNvSpPr/>
          <p:nvPr/>
        </p:nvSpPr>
        <p:spPr>
          <a:xfrm>
            <a:off x="1097280" y="5120640"/>
            <a:ext cx="1280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7" name="TextBox 2097166"/>
          <p:cNvSpPr txBox="1"/>
          <p:nvPr/>
        </p:nvSpPr>
        <p:spPr>
          <a:xfrm>
            <a:off x="1143000" y="5193792"/>
            <a:ext cx="1188720" cy="493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⚡ 168h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Arial"/>
              </a:rPr>
              <a:t>Telemetry</a:t>
            </a:r>
          </a:p>
        </p:txBody>
      </p:sp>
      <p:sp>
        <p:nvSpPr>
          <p:cNvPr id="2097168" name="Rounded Rectangle 2097167"/>
          <p:cNvSpPr/>
          <p:nvPr/>
        </p:nvSpPr>
        <p:spPr>
          <a:xfrm>
            <a:off x="2478024" y="5120640"/>
            <a:ext cx="1280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9" name="TextBox 2097168"/>
          <p:cNvSpPr txBox="1"/>
          <p:nvPr/>
        </p:nvSpPr>
        <p:spPr>
          <a:xfrm>
            <a:off x="2523744" y="5193792"/>
            <a:ext cx="1188720" cy="493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🌲 TreeSHAP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Arial"/>
              </a:rPr>
              <a:t>Explainable AI</a:t>
            </a:r>
          </a:p>
        </p:txBody>
      </p:sp>
      <p:sp>
        <p:nvSpPr>
          <p:cNvPr id="2097170" name="Rounded Rectangle 2097169"/>
          <p:cNvSpPr/>
          <p:nvPr/>
        </p:nvSpPr>
        <p:spPr>
          <a:xfrm>
            <a:off x="3858768" y="5120640"/>
            <a:ext cx="1280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1" name="TextBox 2097170"/>
          <p:cNvSpPr txBox="1"/>
          <p:nvPr/>
        </p:nvSpPr>
        <p:spPr>
          <a:xfrm>
            <a:off x="3904488" y="5193792"/>
            <a:ext cx="1188720" cy="493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🌾 Agronomic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Arial"/>
              </a:rPr>
              <a:t>Farmer AI</a:t>
            </a:r>
          </a:p>
        </p:txBody>
      </p:sp>
      <p:sp>
        <p:nvSpPr>
          <p:cNvPr id="2097172" name="Rounded Rectangle 2097171"/>
          <p:cNvSpPr/>
          <p:nvPr/>
        </p:nvSpPr>
        <p:spPr>
          <a:xfrm>
            <a:off x="5239512" y="5120640"/>
            <a:ext cx="1280160" cy="640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3" name="TextBox 2097172"/>
          <p:cNvSpPr txBox="1"/>
          <p:nvPr/>
        </p:nvSpPr>
        <p:spPr>
          <a:xfrm>
            <a:off x="5285232" y="5193792"/>
            <a:ext cx="1188720" cy="4937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🇮🇳 Dual</a:t>
            </a:r>
          </a:p>
          <a:p>
            <a:pPr algn="ctr"/>
            <a:r>
              <a:rPr sz="900">
                <a:solidFill>
                  <a:srgbClr val="E2E8F0"/>
                </a:solidFill>
                <a:latin typeface="Arial"/>
              </a:rPr>
              <a:t>Hindi / English</a:t>
            </a:r>
          </a:p>
        </p:txBody>
      </p:sp>
      <p:sp>
        <p:nvSpPr>
          <p:cNvPr id="2097174" name="Rounded Rectangle 2097173"/>
          <p:cNvSpPr/>
          <p:nvPr/>
        </p:nvSpPr>
        <p:spPr>
          <a:xfrm>
            <a:off x="7086600" y="685800"/>
            <a:ext cx="4370832" cy="548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5" name="Rounded Rectangle 2097174"/>
          <p:cNvSpPr/>
          <p:nvPr/>
        </p:nvSpPr>
        <p:spPr>
          <a:xfrm>
            <a:off x="7086600" y="685800"/>
            <a:ext cx="4370832" cy="438912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6" name="TextBox 2097175"/>
          <p:cNvSpPr txBox="1"/>
          <p:nvPr/>
        </p:nvSpPr>
        <p:spPr>
          <a:xfrm>
            <a:off x="7269480" y="777240"/>
            <a:ext cx="40050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Arial"/>
              </a:rPr>
              <a:t>SIH 2026 SUBMISSION DETAILS</a:t>
            </a:r>
          </a:p>
        </p:txBody>
      </p:sp>
      <p:sp>
        <p:nvSpPr>
          <p:cNvPr id="2097177" name="TextBox 2097176"/>
          <p:cNvSpPr txBox="1"/>
          <p:nvPr/>
        </p:nvSpPr>
        <p:spPr>
          <a:xfrm>
            <a:off x="7305368" y="1252728"/>
            <a:ext cx="3913632" cy="7335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891B2"/>
                </a:solidFill>
                <a:latin typeface="Arial"/>
              </a:rPr>
              <a:t>PROBLEM STATEMENT ID</a:t>
            </a:r>
          </a:p>
          <a:p>
            <a:pPr>
              <a:spcBef>
                <a:spcPts val="200"/>
              </a:spcBef>
            </a:pPr>
            <a:r>
              <a:rPr lang="en-IN" sz="1200" b="1" dirty="0"/>
              <a:t>SIH1521 — Development of Explainable AI (XAI) based model for prediction of heavy / high impact rain events using satellite data</a:t>
            </a:r>
            <a:r>
              <a:rPr lang="en-IN" sz="1200" dirty="0"/>
              <a:t> </a:t>
            </a:r>
            <a:endParaRPr sz="1200" b="1" dirty="0">
              <a:solidFill>
                <a:srgbClr val="0F172A"/>
              </a:solidFill>
              <a:latin typeface="Arial"/>
            </a:endParaRPr>
          </a:p>
        </p:txBody>
      </p:sp>
      <p:sp>
        <p:nvSpPr>
          <p:cNvPr id="2097178" name="Rectangle 2097177"/>
          <p:cNvSpPr/>
          <p:nvPr/>
        </p:nvSpPr>
        <p:spPr>
          <a:xfrm>
            <a:off x="7315200" y="199339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9" name="TextBox 2097178"/>
          <p:cNvSpPr txBox="1"/>
          <p:nvPr/>
        </p:nvSpPr>
        <p:spPr>
          <a:xfrm>
            <a:off x="7315200" y="2029968"/>
            <a:ext cx="391363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891B2"/>
                </a:solidFill>
                <a:latin typeface="Arial"/>
              </a:rPr>
              <a:t>PROBLEM STATEMENT TITLE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0F172A"/>
                </a:solidFill>
                <a:latin typeface="Arial"/>
              </a:rPr>
              <a:t>AI-Powered Climate Intelligence &amp; Precision Extreme Weather Decision Support Platform</a:t>
            </a:r>
          </a:p>
        </p:txBody>
      </p:sp>
      <p:sp>
        <p:nvSpPr>
          <p:cNvPr id="2097180" name="Rectangle 2097179"/>
          <p:cNvSpPr/>
          <p:nvPr/>
        </p:nvSpPr>
        <p:spPr>
          <a:xfrm>
            <a:off x="7315200" y="277063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81" name="TextBox 2097180"/>
          <p:cNvSpPr txBox="1"/>
          <p:nvPr/>
        </p:nvSpPr>
        <p:spPr>
          <a:xfrm>
            <a:off x="7315200" y="2807208"/>
            <a:ext cx="391363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891B2"/>
                </a:solidFill>
                <a:latin typeface="Arial"/>
              </a:rPr>
              <a:t>THEME</a:t>
            </a:r>
          </a:p>
          <a:p>
            <a:pPr>
              <a:spcBef>
                <a:spcPts val="200"/>
              </a:spcBef>
            </a:pPr>
            <a:r>
              <a:rPr sz="1150" b="0" dirty="0">
                <a:solidFill>
                  <a:srgbClr val="0F172A"/>
                </a:solidFill>
                <a:latin typeface="Arial"/>
              </a:rPr>
              <a:t>Agriculture, Climate Tech &amp; Disaster Management</a:t>
            </a:r>
          </a:p>
        </p:txBody>
      </p:sp>
      <p:sp>
        <p:nvSpPr>
          <p:cNvPr id="2097182" name="Rectangle 2097181"/>
          <p:cNvSpPr/>
          <p:nvPr/>
        </p:nvSpPr>
        <p:spPr>
          <a:xfrm>
            <a:off x="7315200" y="354787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83" name="TextBox 2097182"/>
          <p:cNvSpPr txBox="1"/>
          <p:nvPr/>
        </p:nvSpPr>
        <p:spPr>
          <a:xfrm>
            <a:off x="7315200" y="3584448"/>
            <a:ext cx="3913632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>
                <a:solidFill>
                  <a:srgbClr val="0891B2"/>
                </a:solidFill>
                <a:latin typeface="Arial"/>
              </a:rPr>
              <a:t>PS CATEGORY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0F172A"/>
                </a:solidFill>
                <a:latin typeface="Arial"/>
              </a:rPr>
              <a:t>Software Edition</a:t>
            </a:r>
          </a:p>
        </p:txBody>
      </p:sp>
      <p:sp>
        <p:nvSpPr>
          <p:cNvPr id="2097184" name="Rectangle 2097183"/>
          <p:cNvSpPr/>
          <p:nvPr/>
        </p:nvSpPr>
        <p:spPr>
          <a:xfrm>
            <a:off x="7315200" y="432511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85" name="TextBox 2097184"/>
          <p:cNvSpPr txBox="1"/>
          <p:nvPr/>
        </p:nvSpPr>
        <p:spPr>
          <a:xfrm>
            <a:off x="7315200" y="4421124"/>
            <a:ext cx="391363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891B2"/>
                </a:solidFill>
                <a:latin typeface="Arial"/>
              </a:rPr>
              <a:t>TEAM ID</a:t>
            </a:r>
          </a:p>
        </p:txBody>
      </p:sp>
      <p:sp>
        <p:nvSpPr>
          <p:cNvPr id="2097186" name="Rectangle 2097185"/>
          <p:cNvSpPr/>
          <p:nvPr/>
        </p:nvSpPr>
        <p:spPr>
          <a:xfrm>
            <a:off x="7315200" y="5102352"/>
            <a:ext cx="3913632" cy="914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87" name="TextBox 2097186"/>
          <p:cNvSpPr txBox="1"/>
          <p:nvPr/>
        </p:nvSpPr>
        <p:spPr>
          <a:xfrm>
            <a:off x="7315200" y="5138928"/>
            <a:ext cx="3913632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>
                <a:solidFill>
                  <a:srgbClr val="0891B2"/>
                </a:solidFill>
                <a:latin typeface="Arial"/>
              </a:rPr>
              <a:t>TEAM NAME</a:t>
            </a:r>
            <a:endParaRPr lang="en-US" sz="1000" b="1" dirty="0">
              <a:solidFill>
                <a:srgbClr val="0891B2"/>
              </a:solidFill>
              <a:latin typeface="Arial"/>
            </a:endParaRPr>
          </a:p>
          <a:p>
            <a:r>
              <a:rPr lang="en-IN" sz="1000" b="1" dirty="0">
                <a:solidFill>
                  <a:srgbClr val="0891B2"/>
                </a:solidFill>
                <a:latin typeface="Arial"/>
              </a:rPr>
              <a:t>Rain warriors</a:t>
            </a:r>
            <a:endParaRPr sz="1000" b="1" dirty="0">
              <a:solidFill>
                <a:srgbClr val="0891B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97157" name="TextBox 2097156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8" name="TextBox 2097157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PROPOSED SOLUTION: EXPLAINABLE RAINFALL INTELLIGENCE</a:t>
            </a:r>
          </a:p>
        </p:txBody>
      </p:sp>
      <p:sp>
        <p:nvSpPr>
          <p:cNvPr id="2097159" name="Rectangle 2097158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0" name="TextBox 2097159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61" name="TextBox 2097160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2 / 6</a:t>
            </a:r>
          </a:p>
        </p:txBody>
      </p:sp>
      <p:sp>
        <p:nvSpPr>
          <p:cNvPr id="2097162" name="TextBox 2097161"/>
          <p:cNvSpPr txBox="1"/>
          <p:nvPr/>
        </p:nvSpPr>
        <p:spPr>
          <a:xfrm>
            <a:off x="731520" y="1178137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dirty="0">
                <a:solidFill>
                  <a:srgbClr val="334155"/>
                </a:solidFill>
                <a:latin typeface="Arial"/>
              </a:rPr>
              <a:t>Transforming atmospheric data into transparent, calibrated risk intelligence and automated decision guidance.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731520" y="1444752"/>
            <a:ext cx="2029968" cy="896112"/>
          </a:xfrm>
          <a:prstGeom prst="roundRect">
            <a:avLst/>
          </a:prstGeom>
          <a:solidFill>
            <a:srgbClr val="F0F9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4" name="TextBox 2097163"/>
          <p:cNvSpPr txBox="1"/>
          <p:nvPr/>
        </p:nvSpPr>
        <p:spPr>
          <a:xfrm>
            <a:off x="804672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Arial"/>
              </a:rPr>
              <a:t>1. Live Telemetry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168h Open-Meteo feeds
Pressure, wind, clouds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2898648" y="1444752"/>
            <a:ext cx="2029968" cy="896112"/>
          </a:xfrm>
          <a:prstGeom prst="roundRect">
            <a:avLst/>
          </a:prstGeom>
          <a:solidFill>
            <a:srgbClr val="FEF3C7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6" name="TextBox 2097165"/>
          <p:cNvSpPr txBox="1"/>
          <p:nvPr/>
        </p:nvSpPr>
        <p:spPr>
          <a:xfrm>
            <a:off x="2971800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D97706"/>
                </a:solidFill>
                <a:latin typeface="Arial"/>
              </a:rPr>
              <a:t>2. Heavy-Rain ML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Calibrated XGBoost
Target: ≥64.5 mm/day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5065776" y="1444752"/>
            <a:ext cx="2029968" cy="896112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8" name="TextBox 2097167"/>
          <p:cNvSpPr txBox="1"/>
          <p:nvPr/>
        </p:nvSpPr>
        <p:spPr>
          <a:xfrm>
            <a:off x="5138928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891B2"/>
                </a:solidFill>
                <a:latin typeface="Arial"/>
              </a:rPr>
              <a:t>3. Explainable AI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TreeSHAP attribution
Feature driver weights</a:t>
            </a:r>
          </a:p>
        </p:txBody>
      </p:sp>
      <p:sp>
        <p:nvSpPr>
          <p:cNvPr id="2097169" name="Rounded Rectangle 2097168"/>
          <p:cNvSpPr/>
          <p:nvPr/>
        </p:nvSpPr>
        <p:spPr>
          <a:xfrm>
            <a:off x="7232904" y="1444752"/>
            <a:ext cx="2029968" cy="896112"/>
          </a:xfrm>
          <a:prstGeom prst="roundRect">
            <a:avLst/>
          </a:prstGeom>
          <a:solidFill>
            <a:srgbClr val="F0F9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0" name="TextBox 2097169"/>
          <p:cNvSpPr txBox="1"/>
          <p:nvPr/>
        </p:nvSpPr>
        <p:spPr>
          <a:xfrm>
            <a:off x="7306056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284C7"/>
                </a:solidFill>
                <a:latin typeface="Arial"/>
              </a:rPr>
              <a:t>4. Spatial Risk Map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Catchment hydrology
Elevation flood contours</a:t>
            </a:r>
          </a:p>
        </p:txBody>
      </p:sp>
      <p:sp>
        <p:nvSpPr>
          <p:cNvPr id="2097171" name="Rounded Rectangle 2097170"/>
          <p:cNvSpPr/>
          <p:nvPr/>
        </p:nvSpPr>
        <p:spPr>
          <a:xfrm>
            <a:off x="9400032" y="1444752"/>
            <a:ext cx="2029968" cy="896112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2" name="TextBox 2097171"/>
          <p:cNvSpPr txBox="1"/>
          <p:nvPr/>
        </p:nvSpPr>
        <p:spPr>
          <a:xfrm>
            <a:off x="9473184" y="1517904"/>
            <a:ext cx="1883664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rial"/>
              </a:rPr>
              <a:t>5. Decision Support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0F172A"/>
                </a:solidFill>
                <a:latin typeface="Arial"/>
              </a:rPr>
              <a:t>Farmer agronomic AI
Emergency action routes</a:t>
            </a:r>
          </a:p>
        </p:txBody>
      </p:sp>
      <p:sp>
        <p:nvSpPr>
          <p:cNvPr id="2097173" name="Rounded Rectangle 2097172"/>
          <p:cNvSpPr/>
          <p:nvPr/>
        </p:nvSpPr>
        <p:spPr>
          <a:xfrm>
            <a:off x="731520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4" name="Rounded Rectangle 2097173"/>
          <p:cNvSpPr/>
          <p:nvPr/>
        </p:nvSpPr>
        <p:spPr>
          <a:xfrm>
            <a:off x="731520" y="2450592"/>
            <a:ext cx="2029968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5" name="TextBox 2097174"/>
          <p:cNvSpPr txBox="1"/>
          <p:nvPr/>
        </p:nvSpPr>
        <p:spPr>
          <a:xfrm>
            <a:off x="822960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01. Intelligence</a:t>
            </a:r>
          </a:p>
        </p:txBody>
      </p:sp>
      <p:sp>
        <p:nvSpPr>
          <p:cNvPr id="2097176" name="TextBox 2097175"/>
          <p:cNvSpPr txBox="1"/>
          <p:nvPr/>
        </p:nvSpPr>
        <p:spPr>
          <a:xfrm>
            <a:off x="841248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Weather &amp; XAI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Multi-horizon precipitation forecasting engine with TreeSHAP driver explanations and confidence intervals.</a:t>
            </a:r>
          </a:p>
        </p:txBody>
      </p:sp>
      <p:sp>
        <p:nvSpPr>
          <p:cNvPr id="2097177" name="Rounded Rectangle 2097176"/>
          <p:cNvSpPr/>
          <p:nvPr/>
        </p:nvSpPr>
        <p:spPr>
          <a:xfrm>
            <a:off x="2898648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8" name="Rounded Rectangle 2097177"/>
          <p:cNvSpPr/>
          <p:nvPr/>
        </p:nvSpPr>
        <p:spPr>
          <a:xfrm>
            <a:off x="2898648" y="2450592"/>
            <a:ext cx="2029968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9" name="TextBox 2097178"/>
          <p:cNvSpPr txBox="1"/>
          <p:nvPr/>
        </p:nvSpPr>
        <p:spPr>
          <a:xfrm>
            <a:off x="2990088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02. Risk Map</a:t>
            </a:r>
          </a:p>
        </p:txBody>
      </p:sp>
      <p:sp>
        <p:nvSpPr>
          <p:cNvPr id="2097180" name="TextBox 2097179"/>
          <p:cNvSpPr txBox="1"/>
          <p:nvPr/>
        </p:nvSpPr>
        <p:spPr>
          <a:xfrm>
            <a:off x="3008376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Geospatial Hydrology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Catchment basin run-off modeling, elevation flood vectors, and real-time storm hotspot visualization.</a:t>
            </a:r>
          </a:p>
        </p:txBody>
      </p:sp>
      <p:sp>
        <p:nvSpPr>
          <p:cNvPr id="2097181" name="Rounded Rectangle 2097180"/>
          <p:cNvSpPr/>
          <p:nvPr/>
        </p:nvSpPr>
        <p:spPr>
          <a:xfrm>
            <a:off x="5065776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82" name="Rounded Rectangle 2097181"/>
          <p:cNvSpPr/>
          <p:nvPr/>
        </p:nvSpPr>
        <p:spPr>
          <a:xfrm>
            <a:off x="5065776" y="2450592"/>
            <a:ext cx="2029968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83" name="TextBox 2097182"/>
          <p:cNvSpPr txBox="1"/>
          <p:nvPr/>
        </p:nvSpPr>
        <p:spPr>
          <a:xfrm>
            <a:off x="5157216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03. Emergency</a:t>
            </a:r>
          </a:p>
        </p:txBody>
      </p:sp>
      <p:sp>
        <p:nvSpPr>
          <p:cNvPr id="2097184" name="TextBox 2097183"/>
          <p:cNvSpPr txBox="1"/>
          <p:nvPr/>
        </p:nvSpPr>
        <p:spPr>
          <a:xfrm>
            <a:off x="5175504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Life Safety Broadcast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Civil defense-aligned warning protocols directing evacuations, safe-haven capacities, and hazard havens.</a:t>
            </a:r>
          </a:p>
        </p:txBody>
      </p:sp>
      <p:sp>
        <p:nvSpPr>
          <p:cNvPr id="2097185" name="Rounded Rectangle 2097184"/>
          <p:cNvSpPr/>
          <p:nvPr/>
        </p:nvSpPr>
        <p:spPr>
          <a:xfrm>
            <a:off x="7232904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86" name="Rounded Rectangle 2097185"/>
          <p:cNvSpPr/>
          <p:nvPr/>
        </p:nvSpPr>
        <p:spPr>
          <a:xfrm>
            <a:off x="7232904" y="2450592"/>
            <a:ext cx="202996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87" name="TextBox 2097186"/>
          <p:cNvSpPr txBox="1"/>
          <p:nvPr/>
        </p:nvSpPr>
        <p:spPr>
          <a:xfrm>
            <a:off x="7324344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04. Relief</a:t>
            </a:r>
          </a:p>
        </p:txBody>
      </p:sp>
      <p:sp>
        <p:nvSpPr>
          <p:cNvPr id="2097188" name="TextBox 2097187"/>
          <p:cNvSpPr txBox="1"/>
          <p:nvPr/>
        </p:nvSpPr>
        <p:spPr>
          <a:xfrm>
            <a:off x="7342632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Civic Logistics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Essential resource shortage tracking (sandbags, clean water) synchronizing NGO aid with municipal logistics.</a:t>
            </a:r>
          </a:p>
        </p:txBody>
      </p:sp>
      <p:sp>
        <p:nvSpPr>
          <p:cNvPr id="2097189" name="Rounded Rectangle 2097188"/>
          <p:cNvSpPr/>
          <p:nvPr/>
        </p:nvSpPr>
        <p:spPr>
          <a:xfrm>
            <a:off x="9400032" y="2450592"/>
            <a:ext cx="2029968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90" name="Rounded Rectangle 2097189"/>
          <p:cNvSpPr/>
          <p:nvPr/>
        </p:nvSpPr>
        <p:spPr>
          <a:xfrm>
            <a:off x="9400032" y="2450592"/>
            <a:ext cx="202996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91" name="TextBox 2097190"/>
          <p:cNvSpPr txBox="1"/>
          <p:nvPr/>
        </p:nvSpPr>
        <p:spPr>
          <a:xfrm>
            <a:off x="9491472" y="2505456"/>
            <a:ext cx="184708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Arial"/>
              </a:rPr>
              <a:t>05. Farmer AI</a:t>
            </a:r>
          </a:p>
        </p:txBody>
      </p:sp>
      <p:sp>
        <p:nvSpPr>
          <p:cNvPr id="2097192" name="TextBox 2097191"/>
          <p:cNvSpPr txBox="1"/>
          <p:nvPr/>
        </p:nvSpPr>
        <p:spPr>
          <a:xfrm>
            <a:off x="9509760" y="2889504"/>
            <a:ext cx="1810512" cy="1965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0F172A"/>
                </a:solidFill>
                <a:latin typeface="Arial"/>
              </a:rPr>
              <a:t>Agronomic Guidance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334155"/>
                </a:solidFill>
                <a:latin typeface="Arial"/>
              </a:rPr>
              <a:t>Soil saturation forecasts, crop vulnerability analysis, and precision field drainage guidance.</a:t>
            </a:r>
          </a:p>
        </p:txBody>
      </p:sp>
      <p:sp>
        <p:nvSpPr>
          <p:cNvPr id="2097193" name="Rounded Rectangle 2097192"/>
          <p:cNvSpPr/>
          <p:nvPr/>
        </p:nvSpPr>
        <p:spPr>
          <a:xfrm>
            <a:off x="731520" y="5029200"/>
            <a:ext cx="10725912" cy="1280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94" name="TextBox 2097193"/>
          <p:cNvSpPr txBox="1"/>
          <p:nvPr/>
        </p:nvSpPr>
        <p:spPr>
          <a:xfrm>
            <a:off x="960120" y="5138928"/>
            <a:ext cx="1026871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06B6D4"/>
                </a:solidFill>
                <a:latin typeface="Arial"/>
              </a:rPr>
              <a:t>CRITICAL SCIENTIFIC &amp; CONCEPTUAL DISTINCTION IN R.A.I.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Arial"/>
              </a:rPr>
              <a:t>• Ordinary Precipitation Probability (e.g. 57%–75%): Chance of any measurable rain (≥0.1 mm) in the forecast window.
• Extreme Heavy-Rain ML Risk (e.g. 0.9% vs 1.5% Threshold): Dedicated calibrated XGBoost detecting dangerous deluge (≥64.5 mm/day).
⇒ R.A.I. never conflates these two metrics — ensuring clear, accurate risk comprehension without false public panic.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97156" name="TextBox 2097155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7" name="TextBox 2097156"/>
          <p:cNvSpPr txBox="1"/>
          <p:nvPr/>
        </p:nvSpPr>
        <p:spPr>
          <a:xfrm>
            <a:off x="731520" y="35661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TECHNICAL APPROACH: ML PIPELINE, XAI &amp; KNOWLEDGE RETRIEVAL</a:t>
            </a:r>
          </a:p>
        </p:txBody>
      </p:sp>
      <p:sp>
        <p:nvSpPr>
          <p:cNvPr id="2097158" name="Rectangle 2097157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59" name="TextBox 2097158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60" name="TextBox 2097159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3 / 6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731520" y="1170432"/>
            <a:ext cx="340156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2" name="TextBox 2097161"/>
          <p:cNvSpPr txBox="1"/>
          <p:nvPr/>
        </p:nvSpPr>
        <p:spPr>
          <a:xfrm>
            <a:off x="914400" y="1335024"/>
            <a:ext cx="303580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0891B2"/>
                </a:solidFill>
                <a:latin typeface="Arial"/>
              </a:rPr>
              <a:t>1. CALIBRATED ML ENGINE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Production Model: </a:t>
            </a:r>
            <a:r>
              <a:rPr sz="1100" b="0">
                <a:solidFill>
                  <a:srgbClr val="334155"/>
                </a:solidFill>
                <a:latin typeface="Arial"/>
              </a:rPr>
              <a:t>RAI-HeavyRain-XGBoost-IMD (v1.0.0-sih-xgb)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14-Feature Vector: </a:t>
            </a:r>
            <a:r>
              <a:rPr sz="1100" b="0">
                <a:solidFill>
                  <a:srgbClr val="334155"/>
                </a:solidFill>
                <a:latin typeface="Arial"/>
              </a:rPr>
              <a:t>Surface pressure, wind vectors, dewpoint, 3-layer cloud cover, humidity, historical delta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Heavy-Rain Target: </a:t>
            </a:r>
            <a:r>
              <a:rPr sz="1100" b="0">
                <a:solidFill>
                  <a:srgbClr val="334155"/>
                </a:solidFill>
                <a:latin typeface="Arial"/>
              </a:rPr>
              <a:t>≥64.5 mm/day (IMD Extreme Benchmark)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Operational Threshold: </a:t>
            </a:r>
            <a:r>
              <a:rPr sz="1100" b="0">
                <a:solidFill>
                  <a:srgbClr val="334155"/>
                </a:solidFill>
                <a:latin typeface="Arial"/>
              </a:rPr>
              <a:t>0.0150 (1.5% calibrated threshold)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Calibration Method: </a:t>
            </a:r>
            <a:r>
              <a:rPr sz="1100" b="0">
                <a:solidFill>
                  <a:srgbClr val="334155"/>
                </a:solidFill>
                <a:latin typeface="Arial"/>
              </a:rPr>
              <a:t>Isotonic Regression (Zadrozny &amp; Elkan)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IMD Rainfall Tiers: </a:t>
            </a:r>
            <a:r>
              <a:rPr sz="1100" b="0">
                <a:solidFill>
                  <a:srgbClr val="334155"/>
                </a:solidFill>
                <a:latin typeface="Arial"/>
              </a:rPr>
              <a:t>Light (0.1–7.5), Moderate (7.6–64.4), Heavy (64.5–115.5), Very Heavy (115.6–204.4), Extreme (≥204.5 mm)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4389120" y="1170432"/>
            <a:ext cx="340156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4" name="TextBox 2097163"/>
          <p:cNvSpPr txBox="1"/>
          <p:nvPr/>
        </p:nvSpPr>
        <p:spPr>
          <a:xfrm>
            <a:off x="4572000" y="1335024"/>
            <a:ext cx="303580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 dirty="0">
                <a:solidFill>
                  <a:srgbClr val="0284C7"/>
                </a:solidFill>
                <a:latin typeface="Arial"/>
              </a:rPr>
              <a:t>2. EXPLAINABLE AI (XAI)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Explainability Engine: </a:t>
            </a:r>
            <a:r>
              <a:rPr sz="1100" b="0" dirty="0" err="1">
                <a:solidFill>
                  <a:srgbClr val="334155"/>
                </a:solidFill>
                <a:latin typeface="Arial"/>
              </a:rPr>
              <a:t>TreeSHAP</a:t>
            </a:r>
            <a:r>
              <a:rPr sz="1100" b="0" dirty="0">
                <a:solidFill>
                  <a:srgbClr val="334155"/>
                </a:solidFill>
                <a:latin typeface="Arial"/>
              </a:rPr>
              <a:t> Additive Attributions (Lundberg &amp; Lee)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Attribution Output: </a:t>
            </a:r>
            <a:r>
              <a:rPr sz="1100" b="0" dirty="0">
                <a:solidFill>
                  <a:srgbClr val="334155"/>
                </a:solidFill>
                <a:latin typeface="Arial"/>
              </a:rPr>
              <a:t>Exact numerical SHAP values per atmospheric feature (+/− impact on log-odds)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Dual Factor Breakdown: </a:t>
            </a:r>
            <a:r>
              <a:rPr sz="1100" b="0" dirty="0">
                <a:solidFill>
                  <a:srgbClr val="334155"/>
                </a:solidFill>
                <a:latin typeface="Arial"/>
              </a:rPr>
              <a:t>Increasing factors (pressure drop, moisture surge) vs Reducing factors (dry wind)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Scientific Safety Rule: </a:t>
            </a:r>
            <a:r>
              <a:rPr sz="1100" b="0" dirty="0" err="1">
                <a:solidFill>
                  <a:srgbClr val="334155"/>
                </a:solidFill>
                <a:latin typeface="Arial"/>
              </a:rPr>
              <a:t>TreeSHAP</a:t>
            </a:r>
            <a:r>
              <a:rPr sz="1100" b="0" dirty="0">
                <a:solidFill>
                  <a:srgbClr val="334155"/>
                </a:solidFill>
                <a:latin typeface="Arial"/>
              </a:rPr>
              <a:t> quantifies statistical association with model predictions — it does NOT claim physical causation.</a:t>
            </a:r>
          </a:p>
          <a:p>
            <a:pPr>
              <a:spcBef>
                <a:spcPts val="800"/>
              </a:spcBef>
            </a:pPr>
            <a:r>
              <a:rPr sz="1100" b="1" dirty="0">
                <a:solidFill>
                  <a:srgbClr val="0F172A"/>
                </a:solidFill>
                <a:latin typeface="Arial"/>
              </a:rPr>
              <a:t>• Natural Interpretation: </a:t>
            </a:r>
            <a:r>
              <a:rPr sz="1100" b="0" dirty="0">
                <a:solidFill>
                  <a:srgbClr val="334155"/>
                </a:solidFill>
                <a:latin typeface="Arial"/>
              </a:rPr>
              <a:t>Translates raw feature math into plain Hindi &amp; English natural language summaries.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8046720" y="1170432"/>
            <a:ext cx="3401568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5F3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6" name="TextBox 2097165"/>
          <p:cNvSpPr txBox="1"/>
          <p:nvPr/>
        </p:nvSpPr>
        <p:spPr>
          <a:xfrm>
            <a:off x="8229600" y="1335024"/>
            <a:ext cx="3035808" cy="3794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10B981"/>
                </a:solidFill>
                <a:latin typeface="Arial"/>
              </a:rPr>
              <a:t>3. KNOWLEDGE &amp; DIALOGUE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Knowledge Base: </a:t>
            </a:r>
            <a:r>
              <a:rPr sz="1100" b="0">
                <a:solidFill>
                  <a:srgbClr val="334155"/>
                </a:solidFill>
                <a:latin typeface="Arial"/>
              </a:rPr>
              <a:t>35,857 structured meteorological &amp; agronomic domain records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Retrieval Architecture: </a:t>
            </a:r>
            <a:r>
              <a:rPr sz="1100" b="0">
                <a:solidFill>
                  <a:srgbClr val="334155"/>
                </a:solidFill>
                <a:latin typeface="Arial"/>
              </a:rPr>
              <a:t>Token inverted indexing, normalized routing, TF-IDF/BM25 weighting &amp; category boost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Conversational AI: </a:t>
            </a:r>
            <a:r>
              <a:rPr sz="1100" b="0">
                <a:solidFill>
                  <a:srgbClr val="334155"/>
                </a:solidFill>
                <a:latin typeface="Arial"/>
              </a:rPr>
              <a:t>Multi-turn context memory, typo/Hinglish tolerance, proactive follow-up suggestions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Telemetry Injection: </a:t>
            </a:r>
            <a:r>
              <a:rPr sz="1100" b="0">
                <a:solidFill>
                  <a:srgbClr val="334155"/>
                </a:solidFill>
                <a:latin typeface="Arial"/>
              </a:rPr>
              <a:t>Live Open-Meteo values automatically embedded into knowledge responses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• Bilingual Parity: </a:t>
            </a:r>
            <a:r>
              <a:rPr sz="1100" b="0">
                <a:solidFill>
                  <a:srgbClr val="334155"/>
                </a:solidFill>
                <a:latin typeface="Arial"/>
              </a:rPr>
              <a:t>Full English &amp; natural conversational Hindi support across all 5 pillars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731520" y="5376672"/>
            <a:ext cx="10725912" cy="93268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8" name="TextBox 2097167"/>
          <p:cNvSpPr txBox="1"/>
          <p:nvPr/>
        </p:nvSpPr>
        <p:spPr>
          <a:xfrm>
            <a:off x="914400" y="5468112"/>
            <a:ext cx="10360152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END-TO-END DATAFLOW PIPELINE ARCHITECTURE</a:t>
            </a:r>
          </a:p>
          <a:p>
            <a:pPr>
              <a:spcBef>
                <a:spcPts val="3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Live Telemetry → 14-Feature Production Transform → XGBoost Probability → Isotonic Calibration (1.5% Threshold) → TreeSHAP Attributions → Spatial Hydro-Mapping → Farmer/Emergency Advisory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97155" name="TextBox 2097154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6" name="TextBox 2097155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 dirty="0">
                <a:solidFill>
                  <a:srgbClr val="0F172A"/>
                </a:solidFill>
                <a:latin typeface="Arial"/>
              </a:rPr>
              <a:t>FEASIBILITY &amp; VIABILITY: IMPLEMENTED • TESTED • VERIFIABLE</a:t>
            </a:r>
          </a:p>
        </p:txBody>
      </p:sp>
      <p:sp>
        <p:nvSpPr>
          <p:cNvPr id="2097157" name="Rectangle 2097156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58" name="TextBox 2097157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59" name="TextBox 2097158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4 / 6</a:t>
            </a:r>
          </a:p>
        </p:txBody>
      </p:sp>
      <p:sp>
        <p:nvSpPr>
          <p:cNvPr id="2097160" name="TextBox 2097159"/>
          <p:cNvSpPr txBox="1"/>
          <p:nvPr/>
        </p:nvSpPr>
        <p:spPr>
          <a:xfrm>
            <a:off x="786384" y="1185715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dirty="0">
                <a:solidFill>
                  <a:srgbClr val="334155"/>
                </a:solidFill>
                <a:latin typeface="Arial"/>
              </a:rPr>
              <a:t>R.A.I. is backed by rigorous automated verification suites, modular architecture, and honest engineering disclosures.</a:t>
            </a:r>
          </a:p>
        </p:txBody>
      </p:sp>
      <p:sp>
        <p:nvSpPr>
          <p:cNvPr id="2097161" name="Rounded Rectangle 2097160"/>
          <p:cNvSpPr/>
          <p:nvPr/>
        </p:nvSpPr>
        <p:spPr>
          <a:xfrm>
            <a:off x="731520" y="1444752"/>
            <a:ext cx="2029968" cy="896112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2" name="TextBox 2097161"/>
          <p:cNvSpPr txBox="1"/>
          <p:nvPr/>
        </p:nvSpPr>
        <p:spPr>
          <a:xfrm>
            <a:off x="786384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0B981"/>
                </a:solidFill>
                <a:latin typeface="Arial Black"/>
              </a:rPr>
              <a:t>1,262 / 1,262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System Assertions Passed</a:t>
            </a:r>
          </a:p>
        </p:txBody>
      </p:sp>
      <p:sp>
        <p:nvSpPr>
          <p:cNvPr id="2097163" name="Rounded Rectangle 2097162"/>
          <p:cNvSpPr/>
          <p:nvPr/>
        </p:nvSpPr>
        <p:spPr>
          <a:xfrm>
            <a:off x="2898648" y="1444752"/>
            <a:ext cx="2029968" cy="896112"/>
          </a:xfrm>
          <a:prstGeom prst="roundRect">
            <a:avLst/>
          </a:prstGeom>
          <a:solidFill>
            <a:srgbClr val="ECFE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4" name="TextBox 2097163"/>
          <p:cNvSpPr txBox="1"/>
          <p:nvPr/>
        </p:nvSpPr>
        <p:spPr>
          <a:xfrm>
            <a:off x="2953512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891B2"/>
                </a:solidFill>
                <a:latin typeface="Arial Black"/>
              </a:rPr>
              <a:t>1,128 / 1,128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Knowledge Retrieval Tests</a:t>
            </a:r>
          </a:p>
        </p:txBody>
      </p:sp>
      <p:sp>
        <p:nvSpPr>
          <p:cNvPr id="2097165" name="Rounded Rectangle 2097164"/>
          <p:cNvSpPr/>
          <p:nvPr/>
        </p:nvSpPr>
        <p:spPr>
          <a:xfrm>
            <a:off x="5065776" y="1444752"/>
            <a:ext cx="2029968" cy="896112"/>
          </a:xfrm>
          <a:prstGeom prst="roundRect">
            <a:avLst/>
          </a:prstGeom>
          <a:solidFill>
            <a:srgbClr val="F0F9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6" name="TextBox 2097165"/>
          <p:cNvSpPr txBox="1"/>
          <p:nvPr/>
        </p:nvSpPr>
        <p:spPr>
          <a:xfrm>
            <a:off x="5120640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284C7"/>
                </a:solidFill>
                <a:latin typeface="Arial Black"/>
              </a:rPr>
              <a:t>35 / 35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Secure Auth &amp; OTP Tests</a:t>
            </a:r>
          </a:p>
        </p:txBody>
      </p:sp>
      <p:sp>
        <p:nvSpPr>
          <p:cNvPr id="2097167" name="Rounded Rectangle 2097166"/>
          <p:cNvSpPr/>
          <p:nvPr/>
        </p:nvSpPr>
        <p:spPr>
          <a:xfrm>
            <a:off x="7232904" y="1444752"/>
            <a:ext cx="2029968" cy="896112"/>
          </a:xfrm>
          <a:prstGeom prst="roundRect">
            <a:avLst/>
          </a:prstGeom>
          <a:solidFill>
            <a:srgbClr val="F0FDF4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8" name="TextBox 2097167"/>
          <p:cNvSpPr txBox="1"/>
          <p:nvPr/>
        </p:nvSpPr>
        <p:spPr>
          <a:xfrm>
            <a:off x="7287768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10B981"/>
                </a:solidFill>
                <a:latin typeface="Arial Black"/>
              </a:rPr>
              <a:t>34 / 34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0F172A"/>
                </a:solidFill>
                <a:latin typeface="Arial"/>
              </a:rPr>
              <a:t>Bilingual Parity Tests</a:t>
            </a:r>
          </a:p>
        </p:txBody>
      </p:sp>
      <p:sp>
        <p:nvSpPr>
          <p:cNvPr id="2097169" name="Rounded Rectangle 2097168"/>
          <p:cNvSpPr/>
          <p:nvPr/>
        </p:nvSpPr>
        <p:spPr>
          <a:xfrm>
            <a:off x="9400032" y="1444752"/>
            <a:ext cx="2029968" cy="896112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0" name="TextBox 2097169"/>
          <p:cNvSpPr txBox="1"/>
          <p:nvPr/>
        </p:nvSpPr>
        <p:spPr>
          <a:xfrm>
            <a:off x="9454896" y="1536192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06B6D4"/>
                </a:solidFill>
                <a:latin typeface="Arial Black"/>
              </a:rPr>
              <a:t>1,754 Modules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FFFFF"/>
                </a:solidFill>
                <a:latin typeface="Arial"/>
              </a:rPr>
              <a:t>Compiled (0 Errors)</a:t>
            </a:r>
          </a:p>
        </p:txBody>
      </p:sp>
      <p:sp>
        <p:nvSpPr>
          <p:cNvPr id="2097171" name="Rounded Rectangle 2097170"/>
          <p:cNvSpPr/>
          <p:nvPr/>
        </p:nvSpPr>
        <p:spPr>
          <a:xfrm>
            <a:off x="731520" y="2450592"/>
            <a:ext cx="3401568" cy="3886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2" name="TextBox 2097171"/>
          <p:cNvSpPr txBox="1"/>
          <p:nvPr/>
        </p:nvSpPr>
        <p:spPr>
          <a:xfrm>
            <a:off x="914400" y="2633472"/>
            <a:ext cx="3035808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891B2"/>
                </a:solidFill>
                <a:latin typeface="Arial"/>
              </a:rPr>
              <a:t>TECHNICAL FEASIBILITY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Zero Hardware Deployment: </a:t>
            </a:r>
            <a:r>
              <a:rPr sz="1100" b="0">
                <a:solidFill>
                  <a:srgbClr val="334155"/>
                </a:solidFill>
                <a:latin typeface="Arial"/>
              </a:rPr>
              <a:t>Runs on any modern device using coordinate-based live Open-Meteo telemetry.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Modular Architecture: </a:t>
            </a:r>
            <a:r>
              <a:rPr sz="1100" b="0">
                <a:solidFill>
                  <a:srgbClr val="334155"/>
                </a:solidFill>
                <a:latin typeface="Arial"/>
              </a:rPr>
              <a:t>Clean separation of ML inference, spatial rendering, conversational routing, and auth layers.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Sub-Second Latency: </a:t>
            </a:r>
            <a:r>
              <a:rPr sz="1100" b="0">
                <a:solidFill>
                  <a:srgbClr val="334155"/>
                </a:solidFill>
                <a:latin typeface="Arial"/>
              </a:rPr>
              <a:t>Local in-memory indexing delivers instantaneous knowledge responses (&lt;30ms).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✓ Salted Password Hashing: </a:t>
            </a:r>
            <a:r>
              <a:rPr sz="1100" b="0">
                <a:solidFill>
                  <a:srgbClr val="334155"/>
                </a:solidFill>
                <a:latin typeface="Arial"/>
              </a:rPr>
              <a:t>PBKDF2/Argon2-ready server derivation with unique 128-bit cryptographic salts.</a:t>
            </a:r>
          </a:p>
        </p:txBody>
      </p:sp>
      <p:sp>
        <p:nvSpPr>
          <p:cNvPr id="2097173" name="Rounded Rectangle 2097172"/>
          <p:cNvSpPr/>
          <p:nvPr/>
        </p:nvSpPr>
        <p:spPr>
          <a:xfrm>
            <a:off x="4389120" y="2450592"/>
            <a:ext cx="3401568" cy="3886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4" name="TextBox 2097173"/>
          <p:cNvSpPr txBox="1"/>
          <p:nvPr/>
        </p:nvSpPr>
        <p:spPr>
          <a:xfrm>
            <a:off x="4572000" y="2633472"/>
            <a:ext cx="3035808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D97706"/>
                </a:solidFill>
                <a:latin typeface="Arial"/>
              </a:rPr>
              <a:t>ENGINEERING DISCLOSURES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Development OTP Simulator: </a:t>
            </a:r>
            <a:r>
              <a:rPr sz="1100" b="0">
                <a:solidFill>
                  <a:srgbClr val="334155"/>
                </a:solidFill>
                <a:latin typeface="Arial"/>
              </a:rPr>
              <a:t>Production delivery requires real SMTP/SMS gateway credentials (e.g. Twilio/SendGrid).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Specialized Heavy-Rain ML: </a:t>
            </a:r>
            <a:r>
              <a:rPr sz="1100" b="0">
                <a:solidFill>
                  <a:srgbClr val="334155"/>
                </a:solidFill>
                <a:latin typeface="Arial"/>
              </a:rPr>
              <a:t>Trained specifically for extreme events (≥64.5 mm); does not pretend to forecast general synoptics.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Attribution vs Causation: </a:t>
            </a:r>
            <a:r>
              <a:rPr sz="1100" b="0">
                <a:solidFill>
                  <a:srgbClr val="334155"/>
                </a:solidFill>
                <a:latin typeface="Arial"/>
              </a:rPr>
              <a:t>TreeSHAP calculates statistical feature contributions rather than proving physical meteorology.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D97706"/>
                </a:solidFill>
                <a:latin typeface="Arial"/>
              </a:rPr>
              <a:t>⚠ Open Telemetry Dependent: </a:t>
            </a:r>
            <a:r>
              <a:rPr sz="1100" b="0">
                <a:solidFill>
                  <a:srgbClr val="334155"/>
                </a:solidFill>
                <a:latin typeface="Arial"/>
              </a:rPr>
              <a:t>Requires active internet access to synchronize live Open-Meteo forecasts.</a:t>
            </a:r>
          </a:p>
        </p:txBody>
      </p:sp>
      <p:sp>
        <p:nvSpPr>
          <p:cNvPr id="2097175" name="Rounded Rectangle 2097174"/>
          <p:cNvSpPr/>
          <p:nvPr/>
        </p:nvSpPr>
        <p:spPr>
          <a:xfrm>
            <a:off x="8046720" y="2450592"/>
            <a:ext cx="3401568" cy="3886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6" name="TextBox 2097175"/>
          <p:cNvSpPr txBox="1"/>
          <p:nvPr/>
        </p:nvSpPr>
        <p:spPr>
          <a:xfrm>
            <a:off x="8229600" y="2633472"/>
            <a:ext cx="3035808" cy="3520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10B981"/>
                </a:solidFill>
                <a:latin typeface="Arial"/>
              </a:rPr>
              <a:t>FUTURE SCALING ROADMAP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Multi-Hazard Expansion: </a:t>
            </a:r>
            <a:r>
              <a:rPr sz="1100" b="0">
                <a:solidFill>
                  <a:srgbClr val="334155"/>
                </a:solidFill>
                <a:latin typeface="Arial"/>
              </a:rPr>
              <a:t>Extending ML models to Agricultural Drought, Heatwaves, and Dry-Spell Duration.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IoT Ground Sensors: </a:t>
            </a:r>
            <a:r>
              <a:rPr sz="1100" b="0">
                <a:solidFill>
                  <a:srgbClr val="334155"/>
                </a:solidFill>
                <a:latin typeface="Arial"/>
              </a:rPr>
              <a:t>Integrating low-cost LoRaWAN soil moisture probes for hyper-local microclimate calibration.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NDMA &amp; State SDMA APIs: </a:t>
            </a:r>
            <a:r>
              <a:rPr sz="1100" b="0">
                <a:solidFill>
                  <a:srgbClr val="334155"/>
                </a:solidFill>
                <a:latin typeface="Arial"/>
              </a:rPr>
              <a:t>Direct automated webhook alerts to State Disaster Management Authorities.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🚀 Multi-Lingual India: </a:t>
            </a:r>
            <a:r>
              <a:rPr sz="1100" b="0">
                <a:solidFill>
                  <a:srgbClr val="334155"/>
                </a:solidFill>
                <a:latin typeface="Arial"/>
              </a:rPr>
              <a:t>Scaling beyond Hindi/English to Tamil, Telugu, Marathi, Bengali, and Punjabi.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7075" y="39515"/>
            <a:ext cx="2249850" cy="1062337"/>
          </a:xfrm>
          <a:prstGeom prst="rect">
            <a:avLst/>
          </a:prstGeom>
        </p:spPr>
      </p:pic>
      <p:sp>
        <p:nvSpPr>
          <p:cNvPr id="2097153" name="TextBox 2097152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4" name="TextBox 2097153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 dirty="0">
                <a:solidFill>
                  <a:srgbClr val="0F172A"/>
                </a:solidFill>
                <a:latin typeface="Arial"/>
              </a:rPr>
              <a:t>IMPACT &amp; BENEFITS: CONVERTING INTELLIGENCE INTO DECISIONS</a:t>
            </a:r>
          </a:p>
        </p:txBody>
      </p:sp>
      <p:sp>
        <p:nvSpPr>
          <p:cNvPr id="2097155" name="Rectangle 2097154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56" name="TextBox 2097155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57" name="TextBox 2097156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5 / 6</a:t>
            </a:r>
          </a:p>
        </p:txBody>
      </p:sp>
      <p:sp>
        <p:nvSpPr>
          <p:cNvPr id="2097158" name="Rounded Rectangle 2097157"/>
          <p:cNvSpPr/>
          <p:nvPr/>
        </p:nvSpPr>
        <p:spPr>
          <a:xfrm>
            <a:off x="7315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59" name="Rounded Rectangle 2097158"/>
          <p:cNvSpPr/>
          <p:nvPr/>
        </p:nvSpPr>
        <p:spPr>
          <a:xfrm>
            <a:off x="731520" y="1170432"/>
            <a:ext cx="2496312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0" name="TextBox 2097159"/>
          <p:cNvSpPr txBox="1"/>
          <p:nvPr/>
        </p:nvSpPr>
        <p:spPr>
          <a:xfrm>
            <a:off x="8229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🌾 FARMERS &amp; GROWERS</a:t>
            </a:r>
          </a:p>
        </p:txBody>
      </p:sp>
      <p:sp>
        <p:nvSpPr>
          <p:cNvPr id="2097161" name="TextBox 2097160"/>
          <p:cNvSpPr txBox="1"/>
          <p:nvPr/>
        </p:nvSpPr>
        <p:spPr>
          <a:xfrm>
            <a:off x="8686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Irrigation Timing: </a:t>
            </a:r>
            <a:r>
              <a:rPr sz="1150" b="0">
                <a:solidFill>
                  <a:srgbClr val="334155"/>
                </a:solidFill>
                <a:latin typeface="Arial"/>
              </a:rPr>
              <a:t>Hold irrigation when heavy rain is forecast; saves water and power.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Drainage Protection: </a:t>
            </a:r>
            <a:r>
              <a:rPr sz="1150" b="0">
                <a:solidFill>
                  <a:srgbClr val="334155"/>
                </a:solidFill>
                <a:latin typeface="Arial"/>
              </a:rPr>
              <a:t>Clear field channels before deluge to prevent root rot &amp; crop lodging.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Fertilizer Efficiency: </a:t>
            </a:r>
            <a:r>
              <a:rPr sz="1150" b="0">
                <a:solidFill>
                  <a:srgbClr val="334155"/>
                </a:solidFill>
                <a:latin typeface="Arial"/>
              </a:rPr>
              <a:t>Avoid applying nitrogen before downpours, preventing nutrient runoff.</a:t>
            </a:r>
          </a:p>
        </p:txBody>
      </p:sp>
      <p:sp>
        <p:nvSpPr>
          <p:cNvPr id="2097162" name="Rounded Rectangle 2097161"/>
          <p:cNvSpPr/>
          <p:nvPr/>
        </p:nvSpPr>
        <p:spPr>
          <a:xfrm>
            <a:off x="34747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3" name="Rounded Rectangle 2097162"/>
          <p:cNvSpPr/>
          <p:nvPr/>
        </p:nvSpPr>
        <p:spPr>
          <a:xfrm>
            <a:off x="3474720" y="1170432"/>
            <a:ext cx="2496312" cy="384048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4" name="TextBox 2097163"/>
          <p:cNvSpPr txBox="1"/>
          <p:nvPr/>
        </p:nvSpPr>
        <p:spPr>
          <a:xfrm>
            <a:off x="35661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👥 EVERYDAY CITIZENS</a:t>
            </a:r>
          </a:p>
        </p:txBody>
      </p:sp>
      <p:sp>
        <p:nvSpPr>
          <p:cNvPr id="2097165" name="TextBox 2097164"/>
          <p:cNvSpPr txBox="1"/>
          <p:nvPr/>
        </p:nvSpPr>
        <p:spPr>
          <a:xfrm>
            <a:off x="36118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Hourly Precision: </a:t>
            </a:r>
            <a:r>
              <a:rPr sz="1150" b="0">
                <a:solidFill>
                  <a:srgbClr val="334155"/>
                </a:solidFill>
                <a:latin typeface="Arial"/>
              </a:rPr>
              <a:t>Understand rain onset windows for daily commuting and outdoor safety.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Flood Route Safety: </a:t>
            </a:r>
            <a:r>
              <a:rPr sz="1150" b="0">
                <a:solidFill>
                  <a:srgbClr val="334155"/>
                </a:solidFill>
                <a:latin typeface="Arial"/>
              </a:rPr>
              <a:t>Avoid inundation hotspots using live spatial hydrological vectors.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Explainable Alerts: </a:t>
            </a:r>
            <a:r>
              <a:rPr sz="1150" b="0">
                <a:solidFill>
                  <a:srgbClr val="334155"/>
                </a:solidFill>
                <a:latin typeface="Arial"/>
              </a:rPr>
              <a:t>Clear plain-language explanations instead of ambiguous weather jargon.</a:t>
            </a:r>
          </a:p>
        </p:txBody>
      </p:sp>
      <p:sp>
        <p:nvSpPr>
          <p:cNvPr id="2097166" name="Rounded Rectangle 2097165"/>
          <p:cNvSpPr/>
          <p:nvPr/>
        </p:nvSpPr>
        <p:spPr>
          <a:xfrm>
            <a:off x="62179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7" name="Rounded Rectangle 2097166"/>
          <p:cNvSpPr/>
          <p:nvPr/>
        </p:nvSpPr>
        <p:spPr>
          <a:xfrm>
            <a:off x="6217920" y="1170432"/>
            <a:ext cx="2496312" cy="384048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8" name="TextBox 2097167"/>
          <p:cNvSpPr txBox="1"/>
          <p:nvPr/>
        </p:nvSpPr>
        <p:spPr>
          <a:xfrm>
            <a:off x="63093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🚨 EMERGENCY TEAMS</a:t>
            </a:r>
          </a:p>
        </p:txBody>
      </p:sp>
      <p:sp>
        <p:nvSpPr>
          <p:cNvPr id="2097169" name="TextBox 2097168"/>
          <p:cNvSpPr txBox="1"/>
          <p:nvPr/>
        </p:nvSpPr>
        <p:spPr>
          <a:xfrm>
            <a:off x="63550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Tiered Warning Protocols: </a:t>
            </a:r>
            <a:r>
              <a:rPr sz="1150" b="0">
                <a:solidFill>
                  <a:srgbClr val="334155"/>
                </a:solidFill>
                <a:latin typeface="Arial"/>
              </a:rPr>
              <a:t>Advisory → Watch → Warning → Evacuation escalation stages.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Safe Haven Capacities: </a:t>
            </a:r>
            <a:r>
              <a:rPr sz="1150" b="0">
                <a:solidFill>
                  <a:srgbClr val="334155"/>
                </a:solidFill>
                <a:latin typeface="Arial"/>
              </a:rPr>
              <a:t>Verified shelter locations with live capacity and routing.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Civil Defense Sync: </a:t>
            </a:r>
            <a:r>
              <a:rPr sz="1150" b="0">
                <a:solidFill>
                  <a:srgbClr val="334155"/>
                </a:solidFill>
                <a:latin typeface="Arial"/>
              </a:rPr>
              <a:t>Rapid resource deployment matching municipal response needs.</a:t>
            </a:r>
          </a:p>
        </p:txBody>
      </p:sp>
      <p:sp>
        <p:nvSpPr>
          <p:cNvPr id="2097170" name="Rounded Rectangle 2097169"/>
          <p:cNvSpPr/>
          <p:nvPr/>
        </p:nvSpPr>
        <p:spPr>
          <a:xfrm>
            <a:off x="8961120" y="1170432"/>
            <a:ext cx="2496312" cy="318211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1" name="Rounded Rectangle 2097170"/>
          <p:cNvSpPr/>
          <p:nvPr/>
        </p:nvSpPr>
        <p:spPr>
          <a:xfrm>
            <a:off x="8961120" y="1170432"/>
            <a:ext cx="2496312" cy="38404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2" name="TextBox 2097171"/>
          <p:cNvSpPr txBox="1"/>
          <p:nvPr/>
        </p:nvSpPr>
        <p:spPr>
          <a:xfrm>
            <a:off x="9052560" y="1225296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🗺️ MUNICIPAL &amp; RELIEF</a:t>
            </a:r>
          </a:p>
        </p:txBody>
      </p:sp>
      <p:sp>
        <p:nvSpPr>
          <p:cNvPr id="2097173" name="TextBox 2097172"/>
          <p:cNvSpPr txBox="1"/>
          <p:nvPr/>
        </p:nvSpPr>
        <p:spPr>
          <a:xfrm>
            <a:off x="9098280" y="1645920"/>
            <a:ext cx="2221992" cy="2633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F172A"/>
                </a:solidFill>
                <a:latin typeface="Arial"/>
              </a:rPr>
              <a:t>• Catchment Modeling: </a:t>
            </a:r>
            <a:r>
              <a:rPr sz="1150" b="0">
                <a:solidFill>
                  <a:srgbClr val="334155"/>
                </a:solidFill>
                <a:latin typeface="Arial"/>
              </a:rPr>
              <a:t>Predict dynamic run-off vectors before storm drains overflow.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Shortage Tracking: </a:t>
            </a:r>
            <a:r>
              <a:rPr sz="1150" b="0">
                <a:solidFill>
                  <a:srgbClr val="334155"/>
                </a:solidFill>
                <a:latin typeface="Arial"/>
              </a:rPr>
              <a:t>Real-time auditing of essential relief supplies (water, sandbags).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0F172A"/>
                </a:solidFill>
                <a:latin typeface="Arial"/>
              </a:rPr>
              <a:t>• NGO Coordination: </a:t>
            </a:r>
            <a:r>
              <a:rPr sz="1150" b="0">
                <a:solidFill>
                  <a:srgbClr val="334155"/>
                </a:solidFill>
                <a:latin typeface="Arial"/>
              </a:rPr>
              <a:t>Verified distribution hubs to eliminate duplicate aid efforts.</a:t>
            </a:r>
          </a:p>
        </p:txBody>
      </p:sp>
      <p:sp>
        <p:nvSpPr>
          <p:cNvPr id="2097174" name="Rounded Rectangle 2097173"/>
          <p:cNvSpPr/>
          <p:nvPr/>
        </p:nvSpPr>
        <p:spPr>
          <a:xfrm>
            <a:off x="731520" y="4462272"/>
            <a:ext cx="10725912" cy="1847088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5" name="TextBox 2097174"/>
          <p:cNvSpPr txBox="1"/>
          <p:nvPr/>
        </p:nvSpPr>
        <p:spPr>
          <a:xfrm>
            <a:off x="960120" y="4572000"/>
            <a:ext cx="10268712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>
                <a:solidFill>
                  <a:srgbClr val="0891B2"/>
                </a:solidFill>
                <a:latin typeface="Arial"/>
              </a:rPr>
              <a:t>FARMER AI ESTABLISHED DECISION FRAMEWORK &amp; CORE DIFFERENTIATION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0F172A"/>
                </a:solidFill>
                <a:latin typeface="Arial"/>
              </a:rPr>
              <a:t>✓ DO THIS (Recommended): Hold irrigation if heavy precipitation is predicted; inspect and unblock field drainage channels.
✕ AVOID THIS (High Risk): Do not apply water-soluble nitrogen fertilizers immediately before intense rain (prevents leaching).
→ CHECK LATER (Re-assess): Re-evaluate soil saturation 24h post-rainfall before restarting scheduled irrigation cycles.</a:t>
            </a:r>
          </a:p>
          <a:p>
            <a:pPr>
              <a:spcBef>
                <a:spcPts val="700"/>
              </a:spcBef>
            </a:pPr>
            <a:r>
              <a:rPr sz="1200" b="1" i="1">
                <a:solidFill>
                  <a:srgbClr val="0891B2"/>
                </a:solidFill>
                <a:latin typeface="Georgia"/>
              </a:rPr>
              <a:t>“Ordinary weather apps state whether rain is likely. R.A.I. quantifies extreme-rainfall risk, explains contributing atmospheric drivers via XAI, maps spatial flood vectors, and translates intelligence into clear, life-saving decisions.”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97154" name="TextBox 2097153"/>
          <p:cNvSpPr txBox="1"/>
          <p:nvPr/>
        </p:nvSpPr>
        <p:spPr>
          <a:xfrm>
            <a:off x="731520" y="219456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0891B2"/>
                </a:solidFill>
                <a:latin typeface="Arial"/>
              </a:rPr>
              <a:t>SMART INDIA HACKATHON 2026 • PROJECT R.A.I.</a:t>
            </a:r>
          </a:p>
        </p:txBody>
      </p:sp>
      <p:sp>
        <p:nvSpPr>
          <p:cNvPr id="2097155" name="TextBox 2097154"/>
          <p:cNvSpPr txBox="1"/>
          <p:nvPr/>
        </p:nvSpPr>
        <p:spPr>
          <a:xfrm>
            <a:off x="731520" y="493776"/>
            <a:ext cx="8412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50" b="1">
                <a:solidFill>
                  <a:srgbClr val="0F172A"/>
                </a:solidFill>
                <a:latin typeface="Arial"/>
              </a:rPr>
              <a:t>RESEARCH FOUNDATIONS &amp; SCIENTIFIC REFERENCES</a:t>
            </a:r>
          </a:p>
        </p:txBody>
      </p:sp>
      <p:sp>
        <p:nvSpPr>
          <p:cNvPr id="2097156" name="Rectangle 2097155"/>
          <p:cNvSpPr/>
          <p:nvPr/>
        </p:nvSpPr>
        <p:spPr>
          <a:xfrm>
            <a:off x="731520" y="6446520"/>
            <a:ext cx="10725912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57" name="TextBox 2097156"/>
          <p:cNvSpPr txBox="1"/>
          <p:nvPr/>
        </p:nvSpPr>
        <p:spPr>
          <a:xfrm>
            <a:off x="731520" y="6510528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00">
                <a:solidFill>
                  <a:srgbClr val="64748B"/>
                </a:solidFill>
                <a:latin typeface="Arial"/>
              </a:rPr>
              <a:t>R.A.I. — Explainable AI-Based Rainfall Intelligence &amp; Decision Support</a:t>
            </a:r>
          </a:p>
        </p:txBody>
      </p:sp>
      <p:sp>
        <p:nvSpPr>
          <p:cNvPr id="2097158" name="TextBox 2097157"/>
          <p:cNvSpPr txBox="1"/>
          <p:nvPr/>
        </p:nvSpPr>
        <p:spPr>
          <a:xfrm>
            <a:off x="10515600" y="6510528"/>
            <a:ext cx="914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50" b="1">
                <a:solidFill>
                  <a:srgbClr val="0891B2"/>
                </a:solidFill>
                <a:latin typeface="Arial"/>
              </a:rPr>
              <a:t>6 / 6</a:t>
            </a:r>
          </a:p>
        </p:txBody>
      </p:sp>
      <p:sp>
        <p:nvSpPr>
          <p:cNvPr id="2097159" name="TextBox 2097158"/>
          <p:cNvSpPr txBox="1"/>
          <p:nvPr/>
        </p:nvSpPr>
        <p:spPr>
          <a:xfrm>
            <a:off x="731520" y="1078992"/>
            <a:ext cx="107259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>
                <a:solidFill>
                  <a:srgbClr val="334155"/>
                </a:solidFill>
                <a:latin typeface="Arial"/>
              </a:rPr>
              <a:t>R.A.I. is grounded in peer-reviewed meteorological, machine learning, and explainable AI literature.</a:t>
            </a:r>
          </a:p>
        </p:txBody>
      </p:sp>
      <p:sp>
        <p:nvSpPr>
          <p:cNvPr id="2097160" name="Rounded Rectangle 2097159"/>
          <p:cNvSpPr/>
          <p:nvPr/>
        </p:nvSpPr>
        <p:spPr>
          <a:xfrm>
            <a:off x="731520" y="153619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1" name="Rounded Rectangle 2097160"/>
          <p:cNvSpPr/>
          <p:nvPr/>
        </p:nvSpPr>
        <p:spPr>
          <a:xfrm>
            <a:off x="731520" y="1536192"/>
            <a:ext cx="5230368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2" name="TextBox 2097161"/>
          <p:cNvSpPr txBox="1"/>
          <p:nvPr/>
        </p:nvSpPr>
        <p:spPr>
          <a:xfrm>
            <a:off x="841248" y="159105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1. METEOROLOGY &amp; TELEMETRY STANDARDS</a:t>
            </a:r>
          </a:p>
        </p:txBody>
      </p:sp>
      <p:sp>
        <p:nvSpPr>
          <p:cNvPr id="2097163" name="TextBox 2097162"/>
          <p:cNvSpPr txBox="1"/>
          <p:nvPr/>
        </p:nvSpPr>
        <p:spPr>
          <a:xfrm>
            <a:off x="896112" y="197510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India Meteorological Department (IMD): </a:t>
            </a:r>
            <a:r>
              <a:rPr sz="1100" b="0">
                <a:solidFill>
                  <a:srgbClr val="334155"/>
                </a:solidFill>
                <a:latin typeface="Arial"/>
              </a:rPr>
              <a:t>Rainfall intensity classification criteria &amp; extreme thresholds (Light: 0.1-7.5, Mod: 7.6-64.4, Heavy: 64.5-115.5, Very Heavy: 115.6-204.4, Extreme: ≥204.5 mm/day).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Open-Meteo Weather API: </a:t>
            </a:r>
            <a:r>
              <a:rPr sz="1100" b="0">
                <a:solidFill>
                  <a:srgbClr val="334155"/>
                </a:solidFill>
                <a:latin typeface="Arial"/>
              </a:rPr>
              <a:t>Global Atmospheric Telemetry Documentation (CC BY 4.0), integrating ECMWF Integrated Forecasting System (IFS) and GFS numerical models.</a:t>
            </a:r>
          </a:p>
        </p:txBody>
      </p:sp>
      <p:sp>
        <p:nvSpPr>
          <p:cNvPr id="2097164" name="Rounded Rectangle 2097163"/>
          <p:cNvSpPr/>
          <p:nvPr/>
        </p:nvSpPr>
        <p:spPr>
          <a:xfrm>
            <a:off x="6227064" y="153619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5" name="Rounded Rectangle 2097164"/>
          <p:cNvSpPr/>
          <p:nvPr/>
        </p:nvSpPr>
        <p:spPr>
          <a:xfrm>
            <a:off x="6227064" y="1536192"/>
            <a:ext cx="5230368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6" name="TextBox 2097165"/>
          <p:cNvSpPr txBox="1"/>
          <p:nvPr/>
        </p:nvSpPr>
        <p:spPr>
          <a:xfrm>
            <a:off x="6336792" y="159105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2. MACHINE LEARNING &amp; PROBABILITY CALIBRATION</a:t>
            </a:r>
          </a:p>
        </p:txBody>
      </p:sp>
      <p:sp>
        <p:nvSpPr>
          <p:cNvPr id="2097167" name="TextBox 2097166"/>
          <p:cNvSpPr txBox="1"/>
          <p:nvPr/>
        </p:nvSpPr>
        <p:spPr>
          <a:xfrm>
            <a:off x="6391656" y="197510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Chen, T., &amp; Guestrin, C. (2016): </a:t>
            </a:r>
            <a:r>
              <a:rPr sz="1100" b="0">
                <a:solidFill>
                  <a:srgbClr val="334155"/>
                </a:solidFill>
                <a:latin typeface="Arial"/>
              </a:rPr>
              <a:t>XGBoost: A Scalable Tree Boosting System. In Proceedings of the 22nd ACM SIGKDD International Conference on Knowledge Discovery and Data Mining (KDD).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Zadrozny, B., &amp; Elkan, C. (2002): </a:t>
            </a:r>
            <a:r>
              <a:rPr sz="1100" b="0">
                <a:solidFill>
                  <a:srgbClr val="334155"/>
                </a:solidFill>
                <a:latin typeface="Arial"/>
              </a:rPr>
              <a:t>Transforming classifier scores into accurate multiclass probability estimates (Isotonic Calibration). ACM SIGKDD.</a:t>
            </a:r>
          </a:p>
        </p:txBody>
      </p:sp>
      <p:sp>
        <p:nvSpPr>
          <p:cNvPr id="2097168" name="Rounded Rectangle 2097167"/>
          <p:cNvSpPr/>
          <p:nvPr/>
        </p:nvSpPr>
        <p:spPr>
          <a:xfrm>
            <a:off x="731520" y="409651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69" name="Rounded Rectangle 2097168"/>
          <p:cNvSpPr/>
          <p:nvPr/>
        </p:nvSpPr>
        <p:spPr>
          <a:xfrm>
            <a:off x="731520" y="4096512"/>
            <a:ext cx="5230368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0" name="TextBox 2097169"/>
          <p:cNvSpPr txBox="1"/>
          <p:nvPr/>
        </p:nvSpPr>
        <p:spPr>
          <a:xfrm>
            <a:off x="841248" y="415137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3. EXPLAINABLE ARTIFICIAL INTELLIGENCE (XAI)</a:t>
            </a:r>
          </a:p>
        </p:txBody>
      </p:sp>
      <p:sp>
        <p:nvSpPr>
          <p:cNvPr id="2097171" name="TextBox 2097170"/>
          <p:cNvSpPr txBox="1"/>
          <p:nvPr/>
        </p:nvSpPr>
        <p:spPr>
          <a:xfrm>
            <a:off x="896112" y="453542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Lundberg, S. M., &amp; Lee, S.-I. (2017): </a:t>
            </a:r>
            <a:r>
              <a:rPr sz="1100" b="0">
                <a:solidFill>
                  <a:srgbClr val="334155"/>
                </a:solidFill>
                <a:latin typeface="Arial"/>
              </a:rPr>
              <a:t>A Unified Approach to Interpreting Model Predictions (TreeSHAP). Advances in Neural Information Processing Systems (NeurIPS 30).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Additive Feature Attribution: </a:t>
            </a:r>
            <a:r>
              <a:rPr sz="1100" b="0">
                <a:solidFill>
                  <a:srgbClr val="334155"/>
                </a:solidFill>
                <a:latin typeface="Arial"/>
              </a:rPr>
              <a:t>Game-theoretic Shapley value attribution for tree ensembles, isolating individual atmospheric feature contributions to log-odds predictions.</a:t>
            </a:r>
          </a:p>
        </p:txBody>
      </p:sp>
      <p:sp>
        <p:nvSpPr>
          <p:cNvPr id="2097172" name="Rounded Rectangle 2097171"/>
          <p:cNvSpPr/>
          <p:nvPr/>
        </p:nvSpPr>
        <p:spPr>
          <a:xfrm>
            <a:off x="6227064" y="4096512"/>
            <a:ext cx="5230368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3" name="Rounded Rectangle 2097172"/>
          <p:cNvSpPr/>
          <p:nvPr/>
        </p:nvSpPr>
        <p:spPr>
          <a:xfrm>
            <a:off x="6227064" y="4096512"/>
            <a:ext cx="5230368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7174" name="TextBox 2097173"/>
          <p:cNvSpPr txBox="1"/>
          <p:nvPr/>
        </p:nvSpPr>
        <p:spPr>
          <a:xfrm>
            <a:off x="6336792" y="4151376"/>
            <a:ext cx="501091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rial"/>
              </a:rPr>
              <a:t>4. AGRONOMIC &amp; DISASTER DECISION SUPPORT</a:t>
            </a:r>
          </a:p>
        </p:txBody>
      </p:sp>
      <p:sp>
        <p:nvSpPr>
          <p:cNvPr id="2097175" name="TextBox 2097174"/>
          <p:cNvSpPr txBox="1"/>
          <p:nvPr/>
        </p:nvSpPr>
        <p:spPr>
          <a:xfrm>
            <a:off x="6391656" y="4535424"/>
            <a:ext cx="4901184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F172A"/>
                </a:solidFill>
                <a:latin typeface="Arial"/>
              </a:rPr>
              <a:t>[1] Smart India Hackathon (SIH 2026): </a:t>
            </a:r>
            <a:r>
              <a:rPr sz="1100" b="0">
                <a:solidFill>
                  <a:srgbClr val="334155"/>
                </a:solidFill>
                <a:latin typeface="Arial"/>
              </a:rPr>
              <a:t>Government of India AI-Powered Disaster Management, Climate Resilience and Precision Agriculture Challenge Framework.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F172A"/>
                </a:solidFill>
                <a:latin typeface="Arial"/>
              </a:rPr>
              <a:t>[2] ICAR Agronomic Literature: </a:t>
            </a:r>
            <a:r>
              <a:rPr sz="1100" b="0">
                <a:solidFill>
                  <a:srgbClr val="334155"/>
                </a:solidFill>
                <a:latin typeface="Arial"/>
              </a:rPr>
              <a:t>Soil moisture saturation thresholds, root lodging dynamics, and crop phenological vulnerability stages under acute precipitation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1769</Words>
  <Application>Microsoft Office PowerPoint</Application>
  <PresentationFormat>Widescreen</PresentationFormat>
  <Paragraphs>157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Arial Black</vt:lpstr>
      <vt:lpstr>Calibri</vt:lpstr>
      <vt:lpstr>Georgia</vt:lpstr>
      <vt:lpstr>TradeGothic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darshil nigam</cp:lastModifiedBy>
  <cp:revision>1</cp:revision>
  <dcterms:created xsi:type="dcterms:W3CDTF">2013-12-12T07:46:50Z</dcterms:created>
  <dcterms:modified xsi:type="dcterms:W3CDTF">2026-08-16T18:50:15Z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a4f95452c15f4c069d48b275c87e5c3f_23</vt:lpwstr>
  </property>
</Properties>
</file>