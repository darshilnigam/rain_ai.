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 showSpecialPlsOnTitleSld="0">
  <p:sldMasterIdLst>
    <p:sldMasterId id="2147483663" r:id="rId1"/>
  </p:sldMasterIdLst>
  <p:notesMasterIdLst>
    <p:notesMasterId r:id="rId2"/>
  </p:notesMasterIdLst>
  <p:sldIdLst>
    <p:sldId id="285" r:id="rId3"/>
    <p:sldId id="286" r:id="rId4"/>
    <p:sldId id="287" r:id="rId5"/>
    <p:sldId id="288" r:id="rId6"/>
    <p:sldId id="289" r:id="rId7"/>
    <p:sldId id="290" r:id="rId8"/>
  </p:sldIdLst>
  <p:sldSz type="screen16x9" cy="6858000" cx="12192000"/>
  <p:notesSz cx="6858000" cy="9144000"/>
  <p:defaultTextStyle>
    <a:defPPr>
      <a:defRPr lang="en-US"/>
    </a:defPPr>
    <a:lvl1pPr algn="l" defTabSz="457200" fontAlgn="base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algn="l" defTabSz="457200" fontAlgn="base" marL="4572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algn="l" defTabSz="457200" fontAlgn="base" marL="9144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algn="l" defTabSz="457200" fontAlgn="base" marL="13716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algn="l" defTabSz="457200" fontAlgn="base" marL="18288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algn="l" defTabSz="914400" eaLnBrk="1" hangingPunct="1" latinLnBrk="0" marL="22860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algn="l" defTabSz="914400" eaLnBrk="1" hangingPunct="1" latinLnBrk="0" marL="27432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algn="l" defTabSz="914400" eaLnBrk="1" hangingPunct="1" latinLnBrk="0" marL="32004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algn="l" defTabSz="914400" eaLnBrk="1" hangingPunct="1" latinLnBrk="0" marL="36576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9BBB59"/>
    <a:srgbClr val="39B0D4"/>
    <a:srgbClr val="727272"/>
    <a:srgbClr val="010000"/>
    <a:srgbClr val="FFA751"/>
    <a:srgbClr val="32323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tableStyles" Target="tableStyle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690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/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7/24/2026</a:t>
            </a:fld>
            <a:endParaRPr lang="en-US"/>
          </a:p>
        </p:txBody>
      </p:sp>
      <p:sp>
        <p:nvSpPr>
          <p:cNvPr id="1048691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pPr lvl="0"/>
            <a:endParaRPr lang="en-US" noProof="0"/>
          </a:p>
        </p:txBody>
      </p:sp>
      <p:sp>
        <p:nvSpPr>
          <p:cNvPr id="104869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69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69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/>
        </p:spPr>
        <p:txBody>
          <a:bodyPr anchor="b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457200" eaLnBrk="0" fontAlgn="base" hangingPunct="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algn="l" defTabSz="457200" eaLnBrk="0" fontAlgn="base" hangingPunct="0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algn="l" defTabSz="457200" eaLnBrk="0" fontAlgn="base" hangingPunct="0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algn="l" defTabSz="457200" eaLnBrk="0" fontAlgn="base" hangingPunct="0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algn="l" defTabSz="457200" eaLnBrk="0" fontAlgn="base" hangingPunct="0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algn="l" defTabSz="4572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2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3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2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2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59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59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0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32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60792E3-D524-454C-8AFD-A91972900BCB}" type="datetime1">
              <a:rPr lang="en-US" smtClean="0"/>
              <a:t>7/24/2026</a:t>
            </a:fld>
            <a:endParaRPr lang="en-US"/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8B7524-32A2-4C20-A58C-BC3BAA1042FC}" type="datetime1">
              <a:rPr lang="en-US" smtClean="0"/>
              <a:t>7/24/2026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2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E994447-D6B2-43BB-A877-57F1A267B999}" type="datetime1">
              <a:rPr lang="en-US" smtClean="0"/>
              <a:t>7/24/2026</a:t>
            </a:fld>
            <a:endParaRPr lang="en-US"/>
          </a:p>
        </p:txBody>
      </p:sp>
      <p:sp>
        <p:nvSpPr>
          <p:cNvPr id="104866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6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67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8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8920E16-BD35-483C-AA6B-346FC7E46DEA}" type="datetime1">
              <a:rPr lang="en-US" smtClean="0"/>
              <a:t>7/24/2026</a:t>
            </a:fld>
            <a:endParaRPr lang="en-US"/>
          </a:p>
        </p:txBody>
      </p:sp>
      <p:sp>
        <p:nvSpPr>
          <p:cNvPr id="104867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7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7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EAC6F8-5103-4FC0-A69E-5C6AE6469DA8}" type="datetime1">
              <a:rPr lang="en-US" smtClean="0"/>
              <a:t>7/24/2026</a:t>
            </a:fld>
            <a:endParaRPr lang="en-US"/>
          </a:p>
        </p:txBody>
      </p:sp>
      <p:sp>
        <p:nvSpPr>
          <p:cNvPr id="104867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7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4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60C6921-0627-4C8F-83D5-0CF936D2FFDD}" type="datetime1">
              <a:rPr lang="en-US" smtClean="0"/>
              <a:t>7/24/2026</a:t>
            </a:fld>
            <a:endParaRPr lang="en-US"/>
          </a:p>
        </p:txBody>
      </p:sp>
      <p:sp>
        <p:nvSpPr>
          <p:cNvPr id="104864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F08AD7-8103-40F8-983C-E2BA6BB9CBE0}" type="datetime1">
              <a:rPr lang="en-US" smtClean="0"/>
              <a:t>7/24/2026</a:t>
            </a:fld>
            <a:endParaRPr lang="en-US"/>
          </a:p>
        </p:txBody>
      </p:sp>
      <p:sp>
        <p:nvSpPr>
          <p:cNvPr id="104868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8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4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5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F8C06B4-9380-4A4D-AF49-A3596E17DAF5}" type="datetime1">
              <a:rPr lang="en-US" smtClean="0"/>
              <a:t>7/24/2026</a:t>
            </a:fld>
            <a:endParaRPr lang="en-US"/>
          </a:p>
        </p:txBody>
      </p:sp>
      <p:sp>
        <p:nvSpPr>
          <p:cNvPr id="104868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8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51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048652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7FDEF1-C582-4E22-9E77-D68326471F28}" type="datetime1">
              <a:rPr lang="en-US" smtClean="0"/>
              <a:t>7/24/2026</a:t>
            </a:fld>
            <a:endParaRPr lang="en-US"/>
          </a:p>
        </p:txBody>
      </p:sp>
      <p:sp>
        <p:nvSpPr>
          <p:cNvPr id="104865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5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53C3A68-6922-42D3-8905-ECC2D82A3469}" type="datetime1">
              <a:rPr lang="en-US" smtClean="0"/>
              <a:t>7/24/2026</a:t>
            </a:fld>
            <a:endParaRPr lang="en-US"/>
          </a:p>
        </p:txBody>
      </p:sp>
      <p:sp>
        <p:nvSpPr>
          <p:cNvPr id="104865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6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64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B69E9F4-7604-4950-A8B2-8ACDEDB1506E}" type="datetime1">
              <a:rPr lang="en-US" smtClean="0"/>
              <a:t>7/24/2026</a:t>
            </a:fld>
            <a:endParaRPr lang="en-US"/>
          </a:p>
        </p:txBody>
      </p:sp>
      <p:sp>
        <p:nvSpPr>
          <p:cNvPr id="104864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4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anchor="ctr" anchorCtr="0" bIns="45720" compatLnSpc="1" lIns="91440" numCol="1" rIns="91440" tIns="45720" vert="horz" wrap="square">
            <a:prstTxWarp prst="textNoShape"/>
          </a:bodyPr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anchor="t" anchorCtr="0" bIns="45720" compatLnSpc="1" lIns="91440" numCol="1" rIns="91440" tIns="45720" vert="horz" wrap="square">
            <a:prstTxWarp prst="textNoShape"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/>
        </p:spPr>
        <p:txBody>
          <a:bodyPr anchor="ctr" anchorCtr="0" bIns="45720" compatLnSpc="1" lIns="91440" numCol="1" rIns="91440" tIns="45720" vert="horz" wrap="square">
            <a:prstTxWarp prst="textNoShape"/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7/24/2026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/>
        </p:spPr>
        <p:txBody>
          <a:bodyPr anchor="ctr" bIns="45720" lIns="91440" rIns="91440" rtlCol="0" tIns="45720" vert="horz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r>
              <a:rPr lang="en-US"/>
              <a:t>@SIH Idea submission- Template</a:t>
            </a: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/>
        </p:spPr>
        <p:txBody>
          <a:bodyPr anchor="ctr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dt="0" ftr="1" hdr="0" sldNum="1"/>
  <p:txStyles>
    <p:titleStyle>
      <a:lvl1pPr algn="ctr" defTabSz="457200" eaLnBrk="0" fontAlgn="base" hangingPunct="0" rtl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algn="ctr" defTabSz="457200" fontAlgn="base" marL="4572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algn="ctr" defTabSz="457200" fontAlgn="base" marL="9144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algn="ctr" defTabSz="457200" fontAlgn="base" marL="13716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algn="ctr" defTabSz="457200" fontAlgn="base" marL="18288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algn="l" defTabSz="457200" eaLnBrk="0" fontAlgn="base" hangingPunct="0" indent="-342900" marL="342900" rtl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l" defTabSz="457200" eaLnBrk="0" fontAlgn="base" hangingPunct="0" indent="-285750" marL="742950" rtl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algn="l" defTabSz="457200" eaLnBrk="0" fontAlgn="base" hangingPunct="0" indent="-228600" marL="1143000" rtl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algn="l" defTabSz="457200" eaLnBrk="0" fontAlgn="base" hangingPunct="0" indent="-228600" marL="1600200" rtl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algn="l" defTabSz="457200" eaLnBrk="0" fontAlgn="base" hangingPunct="0" indent="-228600" marL="2057400" rtl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636" name="Rectangle 24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37" name="Freeform: Shape 26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lang="en-US"/>
          </a:p>
        </p:txBody>
      </p:sp>
      <p:pic>
        <p:nvPicPr>
          <p:cNvPr id="2097157" name="Picture 4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/>
        </p:spPr>
      </p:pic>
      <p:sp>
        <p:nvSpPr>
          <p:cNvPr id="1048638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p>
            <a:endParaRPr b="1" dirty="0"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b="1" dirty="0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9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p>
            <a:r>
              <a:rPr b="1" dirty="0" sz="4000" lang="en-US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b="1" dirty="0" sz="4000" lang="en-US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b="1" dirty="0" sz="4000" lang="en-IN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48640" name="TextBox 9"/>
          <p:cNvSpPr txBox="1"/>
          <p:nvPr/>
        </p:nvSpPr>
        <p:spPr>
          <a:xfrm>
            <a:off x="331286" y="2076450"/>
            <a:ext cx="5924550" cy="3478530"/>
          </a:xfrm>
          <a:prstGeom prst="rect"/>
          <a:noFill/>
        </p:spPr>
        <p:txBody>
          <a:bodyPr rtlCol="0" wrap="square">
            <a:spAutoFit/>
          </a:bodyPr>
          <a:p>
            <a:endParaRPr dirty="0" lang="en-US"/>
          </a:p>
          <a:p>
            <a:pPr algn="just" indent="-285750" marL="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b="1" dirty="0" sz="1800" lang="en-US">
                <a:latin typeface="Arial" panose="020B0604020202020204" pitchFamily="34" charset="0"/>
                <a:cs typeface="Arial" panose="020B0604020202020204" pitchFamily="34" charset="0"/>
              </a:rPr>
              <a:t>Problem Statement ID – SIH25022</a:t>
            </a:r>
          </a:p>
          <a:p>
            <a:pPr algn="just" indent="-285750" marL="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b="1" dirty="0" sz="1800" lang="en-US">
                <a:latin typeface="Arial" panose="020B0604020202020204" pitchFamily="34" charset="0"/>
                <a:cs typeface="Arial" panose="020B0604020202020204" pitchFamily="34" charset="0"/>
              </a:rPr>
              <a:t>Problem Statement Title- Maximizing Section Throughput Using AI-Powered Precise Train Traffic Control</a:t>
            </a:r>
          </a:p>
          <a:p>
            <a:pPr algn="just" indent="-285750" marL="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b="1" dirty="0" sz="1800" lang="en-US">
                <a:latin typeface="Arial" panose="020B0604020202020204" pitchFamily="34" charset="0"/>
                <a:cs typeface="Arial" panose="020B0604020202020204" pitchFamily="34" charset="0"/>
              </a:rPr>
              <a:t>Theme- Transportation &amp; Logistics</a:t>
            </a:r>
          </a:p>
          <a:p>
            <a:pPr algn="just" indent="-285750" marL="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b="1" dirty="0" sz="1800" lang="en-US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algn="just" indent="-285750" marL="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b="1" dirty="0" sz="1800" lang="en-US">
                <a:latin typeface="Arial" panose="020B0604020202020204" pitchFamily="34" charset="0"/>
                <a:cs typeface="Arial" panose="020B0604020202020204" pitchFamily="34" charset="0"/>
              </a:rPr>
              <a:t>Team ID- [Your Team ID]</a:t>
            </a:r>
          </a:p>
          <a:p>
            <a:pPr algn="just" indent="-285750" marL="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b="1" dirty="0" sz="1800" lang="en-US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[Your Team Name]</a:t>
            </a:r>
            <a:endParaRPr b="1" dirty="0" sz="1800"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97158" name="Picture 1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dirty="0"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1350000" y="250000"/>
            <a:ext cx="9200000" cy="750000"/>
          </a:xfrm>
        </p:spPr>
        <p:txBody>
          <a:bodyPr anchor="ctr"/>
          <a:p>
            <a:pPr algn="ctr" eaLnBrk="1" hangingPunct="1"/>
            <a:r>
              <a:rPr b="1" dirty="0" sz="2000" lang="en-US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RailFlow AI: Precision Traffic Control for Maximum Throughput</a:t>
            </a:r>
          </a:p>
        </p:txBody>
      </p:sp>
      <p:sp>
        <p:nvSpPr>
          <p:cNvPr id="1048624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656840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indent="-342900" marL="342900">
              <a:buFont typeface="Wingdings" panose="05000000000000000000" pitchFamily="2" charset="2"/>
              <a:buChar char="v"/>
            </a:pPr>
            <a:r>
              <a:rPr b="1" dirty="0" sz="2400" lang="en-US" u="sng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dirty="0" sz="3200" lang="en-US" u="sng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indent="-342900" marL="342900">
              <a:buFont typeface="Arial" panose="020B0604020202020204" pitchFamily="34" charset="0"/>
              <a:buChar char="•"/>
            </a:pPr>
            <a:endParaRPr dirty="0" sz="2000" lang="en-US" u="sng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indent="-342900" marL="342900">
              <a:buFont typeface="Arial" panose="020B0604020202020204" pitchFamily="34" charset="0"/>
              <a:buChar char="•"/>
            </a:pPr>
            <a:endParaRPr dirty="0" sz="2000" lang="en-US" u="sng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just" indent="-342900" marL="342900">
              <a:buFont typeface="Arial" panose="020B0604020202020204" pitchFamily="34" charset="0"/>
              <a:buChar char="•"/>
            </a:pPr>
            <a:r>
              <a:rPr dirty="0" sz="1800" lang="en-US">
                <a:latin typeface="Arial" pitchFamily="34" charset="0"/>
                <a:cs typeface="Arial" pitchFamily="34" charset="0"/>
              </a:rPr>
              <a:t>AI decision-support system that ingests live train positions, signals, and track occupancy to compute conflict-free, throughput-optimal crossing plans for controllers</a:t>
            </a:r>
          </a:p>
          <a:p>
            <a:pPr algn="just" indent="-342900" marL="342900">
              <a:buFont typeface="Arial" panose="020B0604020202020204" pitchFamily="34" charset="0"/>
              <a:buChar char="•"/>
            </a:pPr>
            <a:r>
              <a:rPr dirty="0" sz="1800" lang="en-US">
                <a:latin typeface="Arial" pitchFamily="34" charset="0"/>
                <a:cs typeface="Arial" pitchFamily="34" charset="0"/>
              </a:rPr>
              <a:t>Replaces manual, experience-based decisions with a real-time optimization engine (MILP/RL) recommending train ordering, platform/loop allocation, and speed profiles within seconds</a:t>
            </a:r>
          </a:p>
          <a:p>
            <a:pPr algn="just" indent="-342900" marL="342900">
              <a:buFont typeface="Arial" panose="020B0604020202020204" pitchFamily="34" charset="0"/>
              <a:buChar char="•"/>
            </a:pPr>
            <a:r>
              <a:rPr dirty="0" sz="1800" lang="en-US">
                <a:latin typeface="Arial" pitchFamily="34" charset="0"/>
                <a:cs typeface="Arial" pitchFamily="34" charset="0"/>
              </a:rPr>
              <a:t>Combines constraint optimization with reinforcement learning for continuous re-planning, a what-if simulation sandbox, and explainable recommendations that keep the human controller in the loop</a:t>
            </a:r>
          </a:p>
        </p:txBody>
      </p:sp>
      <p:sp>
        <p:nvSpPr>
          <p:cNvPr id="10486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7C3CE7-23F7-4828-823C-E0205DF2CF97}" type="slidenum">
              <a:rPr b="1" lang="en-US" smtClean="0">
                <a:solidFill>
                  <a:schemeClr val="bg1"/>
                </a:solidFill>
              </a:rPr>
              <a:t>2</a:t>
            </a:fld>
            <a:endParaRPr b="1" dirty="0" lang="en-US">
              <a:solidFill>
                <a:schemeClr val="bg1"/>
              </a:solidFill>
            </a:endParaRPr>
          </a:p>
        </p:txBody>
      </p:sp>
      <p:sp>
        <p:nvSpPr>
          <p:cNvPr id="104862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dirty="0" lang="en-US">
              <a:solidFill>
                <a:schemeClr val="bg1"/>
              </a:solidFill>
            </a:endParaRPr>
          </a:p>
        </p:txBody>
      </p:sp>
      <p:sp>
        <p:nvSpPr>
          <p:cNvPr id="1048627" name="Oval 9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Your Team Name</a:t>
            </a:r>
            <a:endParaRPr dirty="0" lang="en-IN"/>
          </a:p>
        </p:txBody>
      </p:sp>
      <p:pic>
        <p:nvPicPr>
          <p:cNvPr id="2097156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dirty="0"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4861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b="1" dirty="0" sz="3600" lang="en-US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048615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424941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algn="just" indent="-342900" marL="342900">
              <a:buFont typeface="Arial" panose="020B0604020202020204" pitchFamily="34" charset="0"/>
              <a:buChar char="•"/>
            </a:pPr>
            <a:r>
              <a:rPr dirty="0" sz="1800" lang="en-US">
                <a:latin typeface="Arial" pitchFamily="34" charset="0"/>
                <a:cs typeface="Arial" pitchFamily="34" charset="0"/>
              </a:rPr>
              <a:t>Python (optimization engine), OR-Tools/Gurobi for MILP scheduling, PyTorch for RL, FastAPI backend, React dashboard, Kafka streaming, PostgreSQL/TimescaleDB</a:t>
            </a:r>
          </a:p>
          <a:p>
            <a:pPr algn="just" indent="-342900" marL="342900">
              <a:buFont typeface="Arial" panose="020B0604020202020204" pitchFamily="34" charset="0"/>
              <a:buChar char="•"/>
            </a:pPr>
            <a:r>
              <a:rPr dirty="0" sz="1800" lang="en-US">
                <a:latin typeface="Arial" pitchFamily="34" charset="0"/>
                <a:cs typeface="Arial" pitchFamily="34" charset="0"/>
              </a:rPr>
              <a:t>Data Ingestion (GPS, signal &amp; track feeds) → Conflict Detection → MILP/RL Optimizer → Controller Dashboard with Recommendations &amp; Override → Continuous Re-optimization on Disruptions</a:t>
            </a:r>
          </a:p>
        </p:txBody>
      </p:sp>
      <p:sp>
        <p:nvSpPr>
          <p:cNvPr id="10486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7C3CE7-23F7-4828-823C-E0205DF2CF97}" type="slidenum">
              <a:rPr b="1" lang="en-US">
                <a:solidFill>
                  <a:schemeClr val="bg1"/>
                </a:solidFill>
              </a:rPr>
              <a:t>3</a:t>
            </a:fld>
            <a:endParaRPr b="1" dirty="0" lang="en-US">
              <a:solidFill>
                <a:schemeClr val="bg1"/>
              </a:solidFill>
            </a:endParaRPr>
          </a:p>
        </p:txBody>
      </p:sp>
      <p:sp>
        <p:nvSpPr>
          <p:cNvPr id="104861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dirty="0" lang="en-US">
              <a:solidFill>
                <a:schemeClr val="bg1"/>
              </a:solidFill>
            </a:endParaRPr>
          </a:p>
        </p:txBody>
      </p:sp>
      <p:sp>
        <p:nvSpPr>
          <p:cNvPr id="1048618" name="Oval 10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Your Team Name</a:t>
            </a:r>
            <a:endParaRPr dirty="0" lang="en-IN"/>
          </a:p>
        </p:txBody>
      </p:sp>
      <p:pic>
        <p:nvPicPr>
          <p:cNvPr id="2097155" name="Picture 11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dirty="0" sz="1800" i="0" kern="1200" kumimoji="0" lang="en-US" noProof="0" normalizeH="0" spc="0" strike="noStrike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60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b="1" dirty="0" sz="3600" lang="en-US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048606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2225039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sz="1800" lang="en-US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Builds on proven optimization techniques (MILP, RL) already validated in academic and pilot railway studies; can be integrated with existing Indian Railways signalling and TMS data feeds without new hardware</a:t>
            </a:r>
            <a:endParaRPr baseline="0" b="0" cap="none" dirty="0" sz="18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sz="1800" lang="en-US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Legacy signalling interoperability, real-time data latency, controller trust/adoption, and ensuring safety-critical decisions remain compliant with railway safety norms</a:t>
            </a:r>
          </a:p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baseline="0" b="0" cap="none" dirty="0" sz="18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Phased rollout starting as an advisory-only tool, standardized API middleware for legacy signalling systems, human-in-the-loop override at every stage, and rigorous simulation testing before live deployment</a:t>
            </a:r>
            <a:r>
              <a:rPr b="0" cap="none" dirty="0" sz="18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/>
            </a:r>
            <a:endParaRPr baseline="0" b="0" cap="none" dirty="0" sz="18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104860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baseline="0" b="1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baseline="0" b="1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60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baseline="0" b="0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048609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Your Team Name</a:t>
            </a:r>
            <a:endParaRPr dirty="0" lang="en-IN"/>
          </a:p>
        </p:txBody>
      </p:sp>
      <p:pic>
        <p:nvPicPr>
          <p:cNvPr id="2097154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dirty="0" sz="1800" i="0" kern="1200" kumimoji="0" lang="en-US" noProof="0" normalizeH="0" spc="0" strike="noStrike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58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b="1" dirty="0" sz="3600" lang="en-US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048588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691639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baseline="0" b="0" cap="none" dirty="0" sz="18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Empowers section controllers with real-time, data-backed decisions; reduces cognitive load during congestion; benefits passengers and freight operators through more predictable, on-time journeys</a:t>
            </a:r>
          </a:p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sz="1800" lang="en-US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Social: fewer delays and improved passenger experience. Economic: higher line capacity without new infrastructure, reduced penalty costs for freight delays. Environmental: lower idling and energy consumption from smoother traffic flow</a:t>
            </a:r>
          </a:p>
        </p:txBody>
      </p:sp>
      <p:sp>
        <p:nvSpPr>
          <p:cNvPr id="104858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baseline="0" b="1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baseline="0" b="1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590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baseline="0" b="0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048591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Your Team Name</a:t>
            </a:r>
            <a:endParaRPr dirty="0" lang="en-IN"/>
          </a:p>
        </p:txBody>
      </p:sp>
      <p:pic>
        <p:nvPicPr>
          <p:cNvPr id="2097152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dirty="0" sz="1800" i="0" kern="1200" kumimoji="0" lang="en-US" noProof="0" normalizeH="0" spc="0" strike="noStrike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59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b="1" dirty="0" sz="3600" lang="en-US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048597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1158239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sz="1800" lang="en-US" noProof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SIH 2026 Problem Statement SIH25022, Ministry of Railways; research on MILP and reinforcement-learning based railway traffic optimization (e.g. IJCRT 2602482 – RL-based section throughput control); Indian Railways signalling and Traffic Management System (TMS) documentation</a:t>
            </a:r>
            <a:endParaRPr baseline="0" b="0" cap="none" dirty="0" sz="18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10485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baseline="0" b="1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baseline="0" b="1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599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baseline="0" b="0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048600" name="Oval 8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Your Team Name</a:t>
            </a:r>
            <a:endParaRPr dirty="0" lang="en-IN"/>
          </a:p>
        </p:txBody>
      </p:sp>
      <p:pic>
        <p:nvPicPr>
          <p:cNvPr id="2097153" name="Picture 11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Crowdfunder, Inc.</Company>
  <LinksUpToDate>0</LinksUpToDate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Investor Pitch Deck Template</dc:title>
  <dc:creator>Crowdfunder</dc:creator>
  <cp:lastModifiedBy>ADMIN</cp:lastModifiedBy>
  <dcterms:created xsi:type="dcterms:W3CDTF">2013-12-12T07:46:50Z</dcterms:created>
  <dcterms:modified xsi:type="dcterms:W3CDTF">2026-08-15T18:47:12Z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a4f95452c15f4c069d48b275c87e5c3f_23</vt:lpwstr>
  </property>
</Properties>
</file>