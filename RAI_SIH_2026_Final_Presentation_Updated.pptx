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 showSpecialPlsOnTitleSld="0">
  <p:sldMasterIdLst>
    <p:sldMasterId id="2147483663" r:id="rId1"/>
  </p:sldMasterIdLst>
  <p:notesMasterIdLst>
    <p:notesMasterId r:id="rId2"/>
  </p:notesMasterIdLst>
  <p:sldIdLst>
    <p:sldId id="285" r:id="rId3"/>
    <p:sldId id="286" r:id="rId4"/>
    <p:sldId id="287" r:id="rId5"/>
    <p:sldId id="288" r:id="rId6"/>
    <p:sldId id="289" r:id="rId7"/>
    <p:sldId id="290" r:id="rId8"/>
  </p:sldIdLst>
  <p:sldSz type="screen16x9" cy="6858000" cx="12192000"/>
  <p:notesSz cx="6858000" cy="9144000"/>
  <p:defaultTextStyle>
    <a:defPPr>
      <a:defRPr lang="en-US"/>
    </a:defPPr>
    <a:lvl1pPr algn="l" defTabSz="457200" fontAlgn="base" rtl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algn="l" defTabSz="457200" fontAlgn="base" marL="457200" rtl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algn="l" defTabSz="457200" fontAlgn="base" marL="914400" rtl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algn="l" defTabSz="457200" fontAlgn="base" marL="1371600" rtl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algn="l" defTabSz="457200" fontAlgn="base" marL="1828800" rtl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algn="l" defTabSz="914400" eaLnBrk="1" hangingPunct="1" latinLnBrk="0" marL="2286000" rtl="0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algn="l" defTabSz="914400" eaLnBrk="1" hangingPunct="1" latinLnBrk="0" marL="2743200" rtl="0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algn="l" defTabSz="914400" eaLnBrk="1" hangingPunct="1" latinLnBrk="0" marL="3200400" rtl="0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algn="l" defTabSz="914400" eaLnBrk="1" hangingPunct="1" latinLnBrk="0" marL="3657600" rtl="0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  <p:clrMru>
    <a:srgbClr val="9BBB59"/>
    <a:srgbClr val="39B0D4"/>
    <a:srgbClr val="727272"/>
    <a:srgbClr val="010000"/>
    <a:srgbClr val="FFA751"/>
    <a:srgbClr val="323232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-798" y="-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tableStyles" Target="tableStyles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/>
        </p:spPr>
        <p:txBody>
          <a:bodyPr bIns="45720" lIns="91440" rIns="91440" rtlCol="0" tIns="45720" vert="horz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48690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/>
        </p:spPr>
        <p:txBody>
          <a:bodyPr anchor="t" anchorCtr="0" bIns="45720" compatLnSpc="1" lIns="91440" numCol="1" rIns="91440" tIns="45720" vert="horz" wrap="square">
            <a:prstTxWarp prst="textNoShape"/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t>7/24/2026</a:t>
            </a:fld>
            <a:endParaRPr lang="en-US"/>
          </a:p>
        </p:txBody>
      </p:sp>
      <p:sp>
        <p:nvSpPr>
          <p:cNvPr id="1048691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pPr lvl="0"/>
            <a:endParaRPr lang="en-US" noProof="0"/>
          </a:p>
        </p:txBody>
      </p:sp>
      <p:sp>
        <p:nvSpPr>
          <p:cNvPr id="104869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4869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/>
        </p:spPr>
        <p:txBody>
          <a:bodyPr anchor="b" bIns="45720" lIns="91440" rIns="91440" rtlCol="0" tIns="45720" vert="horz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4869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/>
        </p:spPr>
        <p:txBody>
          <a:bodyPr anchor="b" anchorCtr="0" bIns="45720" compatLnSpc="1" lIns="91440" numCol="1" rIns="91440" tIns="45720" vert="horz" wrap="square">
            <a:prstTxWarp prst="textNoShape"/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457200" eaLnBrk="0" fontAlgn="base" hangingPunct="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algn="l" defTabSz="457200" eaLnBrk="0" fontAlgn="base" hangingPunct="0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algn="l" defTabSz="457200" eaLnBrk="0" fontAlgn="base" hangingPunct="0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algn="l" defTabSz="457200" eaLnBrk="0" fontAlgn="base" hangingPunct="0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algn="l" defTabSz="457200" eaLnBrk="0" fontAlgn="base" hangingPunct="0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algn="l" defTabSz="4572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Slide Image Placeholder 1"/>
          <p:cNvSpPr>
            <a:spLocks noChangeAspect="1" noRot="1" noGrp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2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anchor="t" anchorCtr="0" compatLnSpc="1" numCol="1" wrap="square">
            <a:prstTxWarp prst="textNoShape"/>
          </a:bodyPr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04863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p>
            <a:fld id="{65F62A7E-A2F8-438F-9CF8-47DE63F471B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Slide Image Placeholder 1"/>
          <p:cNvSpPr>
            <a:spLocks noChangeAspect="1" noRot="1" noGrp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2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anchor="t" anchorCtr="0" compatLnSpc="1" numCol="1" wrap="square">
            <a:prstTxWarp prst="textNoShape"/>
          </a:bodyPr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04862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p>
            <a:fld id="{0CA7B74D-3791-4AC6-8451-F10DBCCCDD9A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Slide Image Placeholder 1"/>
          <p:cNvSpPr>
            <a:spLocks noChangeAspect="1" noRot="1" noGrp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anchor="t" anchorCtr="0" compatLnSpc="1" numCol="1" wrap="square">
            <a:prstTxWarp prst="textNoShape"/>
          </a:bodyPr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0486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p>
            <a:pPr algn="r" defTabSz="4572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CA7B74D-3791-4AC6-8451-F10DBCCCDD9A}" type="slidenum">
              <a:rPr baseline="0" b="0" cap="none" sz="1200" i="0" kern="1200" kumimoji="0" lang="en-US" noProof="0" normalizeH="0" spc="0" strike="noStrike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algn="r" defTabSz="4572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4</a:t>
            </a:fld>
            <a:endParaRPr baseline="0" b="0" cap="none" sz="1200" i="0" kern="1200" kumimoji="0" lang="en-US" noProof="0" normalizeH="0" spc="0" strike="noStrike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Slide Image Placeholder 1"/>
          <p:cNvSpPr>
            <a:spLocks noChangeAspect="1" noRot="1" noGrp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59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anchor="t" anchorCtr="0" compatLnSpc="1" numCol="1" wrap="square">
            <a:prstTxWarp prst="textNoShape"/>
          </a:bodyPr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04859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p>
            <a:pPr algn="r" defTabSz="4572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CA7B74D-3791-4AC6-8451-F10DBCCCDD9A}" type="slidenum">
              <a:rPr baseline="0" b="0" cap="none" sz="1200" i="0" kern="1200" kumimoji="0" lang="en-US" noProof="0" normalizeH="0" spc="0" strike="noStrike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algn="r" defTabSz="4572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5</a:t>
            </a:fld>
            <a:endParaRPr baseline="0" b="0" cap="none" sz="1200" i="0" kern="1200" kumimoji="0" lang="en-US" noProof="0" normalizeH="0" spc="0" strike="noStrike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Slide Image Placeholder 1"/>
          <p:cNvSpPr>
            <a:spLocks noChangeAspect="1" noRot="1" noGrp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anchor="t" anchorCtr="0" compatLnSpc="1" numCol="1" wrap="square">
            <a:prstTxWarp prst="textNoShape"/>
          </a:bodyPr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04860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p>
            <a:pPr algn="r" defTabSz="4572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CA7B74D-3791-4AC6-8451-F10DBCCCDD9A}" type="slidenum">
              <a:rPr baseline="0" b="0" cap="none" sz="1200" i="0" kern="1200" kumimoji="0" lang="en-US" noProof="0" normalizeH="0" spc="0" strike="noStrike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algn="r" defTabSz="4572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</a:t>
            </a:fld>
            <a:endParaRPr baseline="0" b="0" cap="none" sz="1200" i="0" kern="1200" kumimoji="0" lang="en-US" noProof="0" normalizeH="0" spc="0" strike="noStrike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32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63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60792E3-D524-454C-8AFD-A91972900BCB}" type="datetime1">
              <a:rPr lang="en-US" smtClean="0"/>
              <a:t>7/24/2026</a:t>
            </a:fld>
            <a:endParaRPr lang="en-US"/>
          </a:p>
        </p:txBody>
      </p:sp>
      <p:sp>
        <p:nvSpPr>
          <p:cNvPr id="104863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3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B7E1BAA-A38D-40DE-B22C-DF9BD7D8205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58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8B7524-32A2-4C20-A58C-BC3BAA1042FC}" type="datetime1">
              <a:rPr lang="en-US" smtClean="0"/>
              <a:t>7/24/2026</a:t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77C3CE7-23F7-4828-823C-E0205DF2CF9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62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E994447-D6B2-43BB-A877-57F1A267B999}" type="datetime1">
              <a:rPr lang="en-US" smtClean="0"/>
              <a:t>7/24/2026</a:t>
            </a:fld>
            <a:endParaRPr lang="en-US"/>
          </a:p>
        </p:txBody>
      </p:sp>
      <p:sp>
        <p:nvSpPr>
          <p:cNvPr id="104866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6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1DB31D2-2A87-4F4C-A9AD-05C6CC2B32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67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8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8920E16-BD35-483C-AA6B-346FC7E46DEA}" type="datetime1">
              <a:rPr lang="en-US" smtClean="0"/>
              <a:t>7/24/2026</a:t>
            </a:fld>
            <a:endParaRPr lang="en-US"/>
          </a:p>
        </p:txBody>
      </p:sp>
      <p:sp>
        <p:nvSpPr>
          <p:cNvPr id="104867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7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1FC16D9-1635-4844-816A-0A8A2160FAD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7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FEAC6F8-5103-4FC0-A69E-5C6AE6469DA8}" type="datetime1">
              <a:rPr lang="en-US" smtClean="0"/>
              <a:t>7/24/2026</a:t>
            </a:fld>
            <a:endParaRPr lang="en-US"/>
          </a:p>
        </p:txBody>
      </p:sp>
      <p:sp>
        <p:nvSpPr>
          <p:cNvPr id="104867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7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1C4100A-98DE-4944-910A-A93F5CA9F72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4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60C6921-0627-4C8F-83D5-0CF936D2FFDD}" type="datetime1">
              <a:rPr lang="en-US" smtClean="0"/>
              <a:t>7/24/2026</a:t>
            </a:fld>
            <a:endParaRPr lang="en-US"/>
          </a:p>
        </p:txBody>
      </p:sp>
      <p:sp>
        <p:nvSpPr>
          <p:cNvPr id="104864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4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A63342B-5A73-45DC-864D-086DE78037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FF08AD7-8103-40F8-983C-E2BA6BB9CBE0}" type="datetime1">
              <a:rPr lang="en-US" smtClean="0"/>
              <a:t>7/24/2026</a:t>
            </a:fld>
            <a:endParaRPr lang="en-US"/>
          </a:p>
        </p:txBody>
      </p:sp>
      <p:sp>
        <p:nvSpPr>
          <p:cNvPr id="104868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8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35AFB3-1ACD-44AC-8702-86B1729DF0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3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84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85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F8C06B4-9380-4A4D-AF49-A3596E17DAF5}" type="datetime1">
              <a:rPr lang="en-US" smtClean="0"/>
              <a:t>7/24/2026</a:t>
            </a:fld>
            <a:endParaRPr lang="en-US"/>
          </a:p>
        </p:txBody>
      </p:sp>
      <p:sp>
        <p:nvSpPr>
          <p:cNvPr id="104868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8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5CF15F3-5E77-4C57-9E21-50D6D1D6C02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51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1048652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F7FDEF1-C582-4E22-9E77-D68326471F28}" type="datetime1">
              <a:rPr lang="en-US" smtClean="0"/>
              <a:t>7/24/2026</a:t>
            </a:fld>
            <a:endParaRPr lang="en-US"/>
          </a:p>
        </p:txBody>
      </p:sp>
      <p:sp>
        <p:nvSpPr>
          <p:cNvPr id="104865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5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242169A-B3C7-4FB6-967F-AF95F4EB33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57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53C3A68-6922-42D3-8905-ECC2D82A3469}" type="datetime1">
              <a:rPr lang="en-US" smtClean="0"/>
              <a:t>7/24/2026</a:t>
            </a:fld>
            <a:endParaRPr lang="en-US"/>
          </a:p>
        </p:txBody>
      </p:sp>
      <p:sp>
        <p:nvSpPr>
          <p:cNvPr id="104865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6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4FDD027-5576-4F27-AAB6-1D994836EE7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p>
            <a:r>
              <a:rPr lang="en-US"/>
              <a:t>Click to edit Master title style</a:t>
            </a:r>
          </a:p>
        </p:txBody>
      </p:sp>
      <p:sp>
        <p:nvSpPr>
          <p:cNvPr id="1048646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4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B69E9F4-7604-4950-A8B2-8ACDEDB1506E}" type="datetime1">
              <a:rPr lang="en-US" smtClean="0"/>
              <a:t>7/24/2026</a:t>
            </a:fld>
            <a:endParaRPr lang="en-US"/>
          </a:p>
        </p:txBody>
      </p:sp>
      <p:sp>
        <p:nvSpPr>
          <p:cNvPr id="104864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4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957CE61-8714-431B-A40A-01B1C5541AB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/>
          <a:noFill/>
          <a:ln w="9525">
            <a:noFill/>
            <a:miter lim="800000"/>
            <a:headEnd/>
            <a:tailEnd/>
          </a:ln>
        </p:spPr>
        <p:txBody>
          <a:bodyPr anchor="ctr" anchorCtr="0" bIns="45720" compatLnSpc="1" lIns="91440" numCol="1" rIns="91440" tIns="45720" vert="horz" wrap="square">
            <a:prstTxWarp prst="textNoShape"/>
          </a:bodyPr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/>
          <a:noFill/>
          <a:ln w="9525">
            <a:noFill/>
            <a:miter lim="800000"/>
            <a:headEnd/>
            <a:tailEnd/>
          </a:ln>
        </p:spPr>
        <p:txBody>
          <a:bodyPr anchor="t" anchorCtr="0" bIns="45720" compatLnSpc="1" lIns="91440" numCol="1" rIns="91440" tIns="45720" vert="horz" wrap="square">
            <a:prstTxWarp prst="textNoShape"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/>
        </p:spPr>
        <p:txBody>
          <a:bodyPr anchor="ctr" anchorCtr="0" bIns="45720" compatLnSpc="1" lIns="91440" numCol="1" rIns="91440" tIns="45720" vert="horz" wrap="square">
            <a:prstTxWarp prst="textNoShape"/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7/24/2026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/>
        </p:spPr>
        <p:txBody>
          <a:bodyPr anchor="ctr" bIns="45720" lIns="91440" rIns="91440" rtlCol="0" tIns="45720" vert="horz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r>
              <a:rPr lang="en-US"/>
              <a:t>@SIH Idea submission- Template</a:t>
            </a:r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/>
        </p:spPr>
        <p:txBody>
          <a:bodyPr anchor="ctr" anchorCtr="0" bIns="45720" compatLnSpc="1" lIns="91440" numCol="1" rIns="91440" tIns="45720" vert="horz" wrap="square">
            <a:prstTxWarp prst="textNoShape"/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hf dt="0" ftr="1" hdr="0" sldNum="1"/>
  <p:txStyles>
    <p:titleStyle>
      <a:lvl1pPr algn="ctr" defTabSz="457200" eaLnBrk="0" fontAlgn="base" hangingPunct="0" rtl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algn="ctr" defTabSz="457200" fontAlgn="base" marL="4572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algn="ctr" defTabSz="457200" fontAlgn="base" marL="9144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algn="ctr" defTabSz="457200" fontAlgn="base" marL="13716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algn="ctr" defTabSz="457200" fontAlgn="base" marL="18288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algn="l" defTabSz="457200" eaLnBrk="0" fontAlgn="base" hangingPunct="0" indent="-342900" marL="342900" rtl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l" defTabSz="457200" eaLnBrk="0" fontAlgn="base" hangingPunct="0" indent="-285750" marL="742950" rtl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algn="l" defTabSz="457200" eaLnBrk="0" fontAlgn="base" hangingPunct="0" indent="-228600" marL="1143000" rtl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algn="l" defTabSz="457200" eaLnBrk="0" fontAlgn="base" hangingPunct="0" indent="-228600" marL="1600200" rtl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algn="l" defTabSz="457200" eaLnBrk="0" fontAlgn="base" hangingPunct="0" indent="-228600" marL="2057400" rtl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8" name="Picture 1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9780086" y="1500"/>
            <a:ext cx="2249850" cy="1062337"/>
          </a:xfrm>
          <a:prstGeom prst="rect"/>
        </p:spPr>
      </p:pic>
      <p:sp>
        <p:nvSpPr>
          <p:cNvPr id="2097159" name="Rounded Rectangle 2097158"/>
          <p:cNvSpPr/>
          <p:nvPr/>
        </p:nvSpPr>
        <p:spPr>
          <a:xfrm>
            <a:off x="731520" y="685800"/>
            <a:ext cx="6217920" cy="5486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0" name="TextBox 2097159"/>
          <p:cNvSpPr txBox="1"/>
          <p:nvPr/>
        </p:nvSpPr>
        <p:spPr>
          <a:xfrm>
            <a:off x="1097280" y="960120"/>
            <a:ext cx="5486400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6B6D4"/>
                </a:solidFill>
                <a:latin typeface="Arial"/>
              </a:rPr>
              <a:t>SMART INDIA HACKATHON 2026</a:t>
            </a:r>
          </a:p>
          <a:p>
            <a:r>
              <a:rPr sz="5000" b="1">
                <a:solidFill>
                  <a:srgbClr val="FFFFFF"/>
                </a:solidFill>
                <a:latin typeface="Arial Black"/>
              </a:rPr>
              <a:t>R.A.I.</a:t>
            </a:r>
          </a:p>
          <a:p>
            <a:r>
              <a:rPr sz="1900" b="1">
                <a:solidFill>
                  <a:srgbClr val="06B6D4"/>
                </a:solidFill>
                <a:latin typeface="Arial"/>
              </a:rPr>
              <a:t>Rainfall Artificial Intelligence</a:t>
            </a:r>
          </a:p>
          <a:p>
            <a:pPr>
              <a:spcBef>
                <a:spcPts val="1200"/>
              </a:spcBef>
            </a:pPr>
            <a:r>
              <a:rPr sz="1400">
                <a:solidFill>
                  <a:srgbClr val="ECFEFF"/>
                </a:solidFill>
                <a:latin typeface="Arial"/>
              </a:rPr>
              <a:t>Explainable AI-Based Rainfall Intelligence &amp; Decision Support Platform</a:t>
            </a:r>
          </a:p>
          <a:p>
            <a:pPr>
              <a:spcBef>
                <a:spcPts val="1600"/>
              </a:spcBef>
            </a:pPr>
            <a:r>
              <a:rPr i="1" sz="1250">
                <a:solidFill>
                  <a:srgbClr val="E2E8F0"/>
                </a:solidFill>
                <a:latin typeface="Georgia"/>
              </a:rPr>
              <a:t>“R.A.I. converts weather forecasts into explainable decisions — not just 'Will it rain?', but 'Could it become dangerous, why, where, and what should we do?'”</a:t>
            </a:r>
          </a:p>
          <a:p>
            <a:pPr>
              <a:spcBef>
                <a:spcPts val="1800"/>
              </a:spcBef>
            </a:pPr>
            <a:r>
              <a:rPr b="1" sz="1150">
                <a:solidFill>
                  <a:srgbClr val="10B981"/>
                </a:solidFill>
                <a:latin typeface="Arial"/>
              </a:rPr>
              <a:t>⚡ 168h Telemetry  •  🌲 TreeSHAP XAI  •  🌾 Agronomic AI  •  🇮🇳 Hindi/English</a:t>
            </a:r>
          </a:p>
        </p:txBody>
      </p:sp>
      <p:sp>
        <p:nvSpPr>
          <p:cNvPr id="2097161" name="Rounded Rectangle 2097160"/>
          <p:cNvSpPr/>
          <p:nvPr/>
        </p:nvSpPr>
        <p:spPr>
          <a:xfrm>
            <a:off x="7132320" y="1280160"/>
            <a:ext cx="4325112" cy="489204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2" name="TextBox 2097161"/>
          <p:cNvSpPr txBox="1"/>
          <p:nvPr/>
        </p:nvSpPr>
        <p:spPr>
          <a:xfrm>
            <a:off x="7452360" y="1508760"/>
            <a:ext cx="370332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0891B2"/>
                </a:solidFill>
                <a:latin typeface="Arial"/>
              </a:rPr>
              <a:t>PROBLEM STATEMENT ID</a:t>
            </a:r>
          </a:p>
          <a:p>
            <a:pPr>
              <a:spcBef>
                <a:spcPts val="100"/>
              </a:spcBef>
            </a:pPr>
            <a:r>
              <a:rPr sz="1250" b="1">
                <a:solidFill>
                  <a:srgbClr val="0F172A"/>
                </a:solidFill>
                <a:latin typeface="Arial"/>
              </a:rPr>
              <a:t>[SIH-2026 Problem Statement ID]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0891B2"/>
                </a:solidFill>
                <a:latin typeface="Arial"/>
              </a:rPr>
              <a:t>PROBLEM STATEMENT TITLE</a:t>
            </a:r>
          </a:p>
          <a:p>
            <a:pPr>
              <a:spcBef>
                <a:spcPts val="100"/>
              </a:spcBef>
            </a:pPr>
            <a:r>
              <a:rPr sz="1250" b="0">
                <a:solidFill>
                  <a:srgbClr val="0F172A"/>
                </a:solidFill>
                <a:latin typeface="Arial"/>
              </a:rPr>
              <a:t>AI-Powered Climate Intelligence &amp; Precision Extreme Weather Decision Support Platform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0891B2"/>
                </a:solidFill>
                <a:latin typeface="Arial"/>
              </a:rPr>
              <a:t>THEME</a:t>
            </a:r>
          </a:p>
          <a:p>
            <a:pPr>
              <a:spcBef>
                <a:spcPts val="100"/>
              </a:spcBef>
            </a:pPr>
            <a:r>
              <a:rPr sz="1250" b="0">
                <a:solidFill>
                  <a:srgbClr val="0F172A"/>
                </a:solidFill>
                <a:latin typeface="Arial"/>
              </a:rPr>
              <a:t>Agriculture, Climate Tech &amp; Disaster Management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0891B2"/>
                </a:solidFill>
                <a:latin typeface="Arial"/>
              </a:rPr>
              <a:t>PS CATEGORY</a:t>
            </a:r>
          </a:p>
          <a:p>
            <a:pPr>
              <a:spcBef>
                <a:spcPts val="100"/>
              </a:spcBef>
            </a:pPr>
            <a:r>
              <a:rPr sz="1250" b="0">
                <a:solidFill>
                  <a:srgbClr val="0F172A"/>
                </a:solidFill>
                <a:latin typeface="Arial"/>
              </a:rPr>
              <a:t>Software Edition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0891B2"/>
                </a:solidFill>
                <a:latin typeface="Arial"/>
              </a:rPr>
              <a:t>TEAM ID</a:t>
            </a:r>
          </a:p>
          <a:p>
            <a:pPr>
              <a:spcBef>
                <a:spcPts val="100"/>
              </a:spcBef>
            </a:pPr>
            <a:r>
              <a:rPr sz="1250" b="1">
                <a:solidFill>
                  <a:srgbClr val="0F172A"/>
                </a:solidFill>
                <a:latin typeface="Arial"/>
              </a:rPr>
              <a:t>[Your Team ID]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0891B2"/>
                </a:solidFill>
                <a:latin typeface="Arial"/>
              </a:rPr>
              <a:t>TEAM NAME</a:t>
            </a:r>
          </a:p>
          <a:p>
            <a:pPr>
              <a:spcBef>
                <a:spcPts val="100"/>
              </a:spcBef>
            </a:pPr>
            <a:r>
              <a:rPr sz="1250" b="1">
                <a:solidFill>
                  <a:srgbClr val="0F172A"/>
                </a:solidFill>
                <a:latin typeface="Arial"/>
              </a:rPr>
              <a:t>[Your Team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6" name="Picture 10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9780086" y="1500"/>
            <a:ext cx="2249850" cy="1062337"/>
          </a:xfrm>
          <a:prstGeom prst="rect"/>
        </p:spPr>
      </p:pic>
      <p:sp>
        <p:nvSpPr>
          <p:cNvPr id="2097157" name="TextBox 2097156"/>
          <p:cNvSpPr txBox="1"/>
          <p:nvPr/>
        </p:nvSpPr>
        <p:spPr>
          <a:xfrm>
            <a:off x="731520" y="219456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0891B2"/>
                </a:solidFill>
                <a:latin typeface="Arial"/>
              </a:rPr>
              <a:t>SMART INDIA HACKATHON 2026 • PROJECT R.A.I.</a:t>
            </a:r>
          </a:p>
        </p:txBody>
      </p:sp>
      <p:sp>
        <p:nvSpPr>
          <p:cNvPr id="2097158" name="TextBox 2097157"/>
          <p:cNvSpPr txBox="1"/>
          <p:nvPr/>
        </p:nvSpPr>
        <p:spPr>
          <a:xfrm>
            <a:off x="731520" y="493776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350" b="1">
                <a:solidFill>
                  <a:srgbClr val="0F172A"/>
                </a:solidFill>
                <a:latin typeface="Arial"/>
              </a:rPr>
              <a:t>PROPOSED SOLUTION: EXPLAINABLE RAINFALL INTELLIGENCE</a:t>
            </a:r>
          </a:p>
        </p:txBody>
      </p:sp>
      <p:sp>
        <p:nvSpPr>
          <p:cNvPr id="2097159" name="Rectangle 2097158"/>
          <p:cNvSpPr/>
          <p:nvPr/>
        </p:nvSpPr>
        <p:spPr>
          <a:xfrm>
            <a:off x="731520" y="6446520"/>
            <a:ext cx="1072591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0" name="TextBox 2097159"/>
          <p:cNvSpPr txBox="1"/>
          <p:nvPr/>
        </p:nvSpPr>
        <p:spPr>
          <a:xfrm>
            <a:off x="731520" y="6510528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Arial"/>
              </a:rPr>
              <a:t>R.A.I. — Explainable AI-Based Rainfall Intelligence &amp; Decision Support</a:t>
            </a:r>
          </a:p>
        </p:txBody>
      </p:sp>
      <p:sp>
        <p:nvSpPr>
          <p:cNvPr id="2097161" name="TextBox 2097160"/>
          <p:cNvSpPr txBox="1"/>
          <p:nvPr/>
        </p:nvSpPr>
        <p:spPr>
          <a:xfrm>
            <a:off x="10515600" y="6510528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50" b="1">
                <a:solidFill>
                  <a:srgbClr val="0891B2"/>
                </a:solidFill>
                <a:latin typeface="Arial"/>
              </a:rPr>
              <a:t>2 / 6</a:t>
            </a:r>
          </a:p>
        </p:txBody>
      </p:sp>
      <p:sp>
        <p:nvSpPr>
          <p:cNvPr id="2097162" name="TextBox 2097161"/>
          <p:cNvSpPr txBox="1"/>
          <p:nvPr/>
        </p:nvSpPr>
        <p:spPr>
          <a:xfrm>
            <a:off x="731520" y="1078992"/>
            <a:ext cx="1072591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50">
                <a:solidFill>
                  <a:srgbClr val="334155"/>
                </a:solidFill>
                <a:latin typeface="Arial"/>
              </a:rPr>
              <a:t>Transforming atmospheric data into transparent, calibrated risk intelligence and automated decision guidance.</a:t>
            </a:r>
          </a:p>
        </p:txBody>
      </p:sp>
      <p:sp>
        <p:nvSpPr>
          <p:cNvPr id="2097163" name="Rounded Rectangle 2097162"/>
          <p:cNvSpPr/>
          <p:nvPr/>
        </p:nvSpPr>
        <p:spPr>
          <a:xfrm>
            <a:off x="731520" y="1444752"/>
            <a:ext cx="2029968" cy="896112"/>
          </a:xfrm>
          <a:prstGeom prst="roundRect">
            <a:avLst/>
          </a:prstGeom>
          <a:solidFill>
            <a:srgbClr val="F0F9FF"/>
          </a:solidFill>
          <a:ln w="1587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4" name="TextBox 2097163"/>
          <p:cNvSpPr txBox="1"/>
          <p:nvPr/>
        </p:nvSpPr>
        <p:spPr>
          <a:xfrm>
            <a:off x="804672" y="1517904"/>
            <a:ext cx="1883664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0284C7"/>
                </a:solidFill>
                <a:latin typeface="Arial"/>
              </a:rPr>
              <a:t>1. Live Telemetry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0F172A"/>
                </a:solidFill>
                <a:latin typeface="Arial"/>
              </a:rPr>
              <a:t>168h Open-Meteo feeds
Pressure, wind, clouds</a:t>
            </a:r>
          </a:p>
        </p:txBody>
      </p:sp>
      <p:sp>
        <p:nvSpPr>
          <p:cNvPr id="2097165" name="Rounded Rectangle 2097164"/>
          <p:cNvSpPr/>
          <p:nvPr/>
        </p:nvSpPr>
        <p:spPr>
          <a:xfrm>
            <a:off x="2898648" y="1444752"/>
            <a:ext cx="2029968" cy="896112"/>
          </a:xfrm>
          <a:prstGeom prst="roundRect">
            <a:avLst/>
          </a:prstGeom>
          <a:solidFill>
            <a:srgbClr val="FEF3C7"/>
          </a:solidFill>
          <a:ln w="1587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6" name="TextBox 2097165"/>
          <p:cNvSpPr txBox="1"/>
          <p:nvPr/>
        </p:nvSpPr>
        <p:spPr>
          <a:xfrm>
            <a:off x="2971800" y="1517904"/>
            <a:ext cx="1883664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D97706"/>
                </a:solidFill>
                <a:latin typeface="Arial"/>
              </a:rPr>
              <a:t>2. Heavy-Rain ML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0F172A"/>
                </a:solidFill>
                <a:latin typeface="Arial"/>
              </a:rPr>
              <a:t>Calibrated XGBoost
Target: ≥64.5 mm/day</a:t>
            </a:r>
          </a:p>
        </p:txBody>
      </p:sp>
      <p:sp>
        <p:nvSpPr>
          <p:cNvPr id="2097167" name="Rounded Rectangle 2097166"/>
          <p:cNvSpPr/>
          <p:nvPr/>
        </p:nvSpPr>
        <p:spPr>
          <a:xfrm>
            <a:off x="5065776" y="1444752"/>
            <a:ext cx="2029968" cy="896112"/>
          </a:xfrm>
          <a:prstGeom prst="roundRect">
            <a:avLst/>
          </a:prstGeom>
          <a:solidFill>
            <a:srgbClr val="ECFEFF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8" name="TextBox 2097167"/>
          <p:cNvSpPr txBox="1"/>
          <p:nvPr/>
        </p:nvSpPr>
        <p:spPr>
          <a:xfrm>
            <a:off x="5138928" y="1517904"/>
            <a:ext cx="1883664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0891B2"/>
                </a:solidFill>
                <a:latin typeface="Arial"/>
              </a:rPr>
              <a:t>3. Explainable AI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0F172A"/>
                </a:solidFill>
                <a:latin typeface="Arial"/>
              </a:rPr>
              <a:t>TreeSHAP attribution
Feature driver weights</a:t>
            </a:r>
          </a:p>
        </p:txBody>
      </p:sp>
      <p:sp>
        <p:nvSpPr>
          <p:cNvPr id="2097169" name="Rounded Rectangle 2097168"/>
          <p:cNvSpPr/>
          <p:nvPr/>
        </p:nvSpPr>
        <p:spPr>
          <a:xfrm>
            <a:off x="7232904" y="1444752"/>
            <a:ext cx="2029968" cy="896112"/>
          </a:xfrm>
          <a:prstGeom prst="roundRect">
            <a:avLst/>
          </a:prstGeom>
          <a:solidFill>
            <a:srgbClr val="F0F9FF"/>
          </a:solidFill>
          <a:ln w="1587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70" name="TextBox 2097169"/>
          <p:cNvSpPr txBox="1"/>
          <p:nvPr/>
        </p:nvSpPr>
        <p:spPr>
          <a:xfrm>
            <a:off x="7306056" y="1517904"/>
            <a:ext cx="1883664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0284C7"/>
                </a:solidFill>
                <a:latin typeface="Arial"/>
              </a:rPr>
              <a:t>4. Spatial Risk Map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0F172A"/>
                </a:solidFill>
                <a:latin typeface="Arial"/>
              </a:rPr>
              <a:t>Catchment hydrology
Elevation flood contours</a:t>
            </a:r>
          </a:p>
        </p:txBody>
      </p:sp>
      <p:sp>
        <p:nvSpPr>
          <p:cNvPr id="2097171" name="Rounded Rectangle 2097170"/>
          <p:cNvSpPr/>
          <p:nvPr/>
        </p:nvSpPr>
        <p:spPr>
          <a:xfrm>
            <a:off x="9400032" y="1444752"/>
            <a:ext cx="2029968" cy="896112"/>
          </a:xfrm>
          <a:prstGeom prst="roundRect">
            <a:avLst/>
          </a:prstGeom>
          <a:solidFill>
            <a:srgbClr val="F0FDF4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72" name="TextBox 2097171"/>
          <p:cNvSpPr txBox="1"/>
          <p:nvPr/>
        </p:nvSpPr>
        <p:spPr>
          <a:xfrm>
            <a:off x="9473184" y="1517904"/>
            <a:ext cx="1883664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10B981"/>
                </a:solidFill>
                <a:latin typeface="Arial"/>
              </a:rPr>
              <a:t>5. Decision Support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0F172A"/>
                </a:solidFill>
                <a:latin typeface="Arial"/>
              </a:rPr>
              <a:t>Farmer agronomic AI
Emergency action routes</a:t>
            </a:r>
          </a:p>
        </p:txBody>
      </p:sp>
      <p:sp>
        <p:nvSpPr>
          <p:cNvPr id="2097173" name="Rounded Rectangle 2097172"/>
          <p:cNvSpPr/>
          <p:nvPr/>
        </p:nvSpPr>
        <p:spPr>
          <a:xfrm>
            <a:off x="731520" y="2450592"/>
            <a:ext cx="2029968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74" name="Rounded Rectangle 2097173"/>
          <p:cNvSpPr/>
          <p:nvPr/>
        </p:nvSpPr>
        <p:spPr>
          <a:xfrm>
            <a:off x="731520" y="2450592"/>
            <a:ext cx="2029968" cy="365760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75" name="TextBox 2097174"/>
          <p:cNvSpPr txBox="1"/>
          <p:nvPr/>
        </p:nvSpPr>
        <p:spPr>
          <a:xfrm>
            <a:off x="822960" y="2505456"/>
            <a:ext cx="184708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Arial"/>
              </a:rPr>
              <a:t>01. Intelligence</a:t>
            </a:r>
          </a:p>
        </p:txBody>
      </p:sp>
      <p:sp>
        <p:nvSpPr>
          <p:cNvPr id="2097176" name="TextBox 2097175"/>
          <p:cNvSpPr txBox="1"/>
          <p:nvPr/>
        </p:nvSpPr>
        <p:spPr>
          <a:xfrm>
            <a:off x="841248" y="2889504"/>
            <a:ext cx="1810512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Weather &amp; XAI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334155"/>
                </a:solidFill>
                <a:latin typeface="Arial"/>
              </a:rPr>
              <a:t>Multi-horizon precipitation forecasting engine with TreeSHAP driver explanations and confidence intervals.</a:t>
            </a:r>
          </a:p>
        </p:txBody>
      </p:sp>
      <p:sp>
        <p:nvSpPr>
          <p:cNvPr id="2097177" name="Rounded Rectangle 2097176"/>
          <p:cNvSpPr/>
          <p:nvPr/>
        </p:nvSpPr>
        <p:spPr>
          <a:xfrm>
            <a:off x="2898648" y="2450592"/>
            <a:ext cx="2029968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78" name="Rounded Rectangle 2097177"/>
          <p:cNvSpPr/>
          <p:nvPr/>
        </p:nvSpPr>
        <p:spPr>
          <a:xfrm>
            <a:off x="2898648" y="2450592"/>
            <a:ext cx="2029968" cy="36576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79" name="TextBox 2097178"/>
          <p:cNvSpPr txBox="1"/>
          <p:nvPr/>
        </p:nvSpPr>
        <p:spPr>
          <a:xfrm>
            <a:off x="2990088" y="2505456"/>
            <a:ext cx="184708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Arial"/>
              </a:rPr>
              <a:t>02. Risk Map</a:t>
            </a:r>
          </a:p>
        </p:txBody>
      </p:sp>
      <p:sp>
        <p:nvSpPr>
          <p:cNvPr id="2097180" name="TextBox 2097179"/>
          <p:cNvSpPr txBox="1"/>
          <p:nvPr/>
        </p:nvSpPr>
        <p:spPr>
          <a:xfrm>
            <a:off x="3008376" y="2889504"/>
            <a:ext cx="1810512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Geospatial Hydrology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334155"/>
                </a:solidFill>
                <a:latin typeface="Arial"/>
              </a:rPr>
              <a:t>Catchment basin run-off modeling, elevation flood vectors, and real-time storm hotspot visualization.</a:t>
            </a:r>
          </a:p>
        </p:txBody>
      </p:sp>
      <p:sp>
        <p:nvSpPr>
          <p:cNvPr id="2097181" name="Rounded Rectangle 2097180"/>
          <p:cNvSpPr/>
          <p:nvPr/>
        </p:nvSpPr>
        <p:spPr>
          <a:xfrm>
            <a:off x="5065776" y="2450592"/>
            <a:ext cx="2029968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82" name="Rounded Rectangle 2097181"/>
          <p:cNvSpPr/>
          <p:nvPr/>
        </p:nvSpPr>
        <p:spPr>
          <a:xfrm>
            <a:off x="5065776" y="2450592"/>
            <a:ext cx="2029968" cy="3657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83" name="TextBox 2097182"/>
          <p:cNvSpPr txBox="1"/>
          <p:nvPr/>
        </p:nvSpPr>
        <p:spPr>
          <a:xfrm>
            <a:off x="5157216" y="2505456"/>
            <a:ext cx="184708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Arial"/>
              </a:rPr>
              <a:t>03. Emergency</a:t>
            </a:r>
          </a:p>
        </p:txBody>
      </p:sp>
      <p:sp>
        <p:nvSpPr>
          <p:cNvPr id="2097184" name="TextBox 2097183"/>
          <p:cNvSpPr txBox="1"/>
          <p:nvPr/>
        </p:nvSpPr>
        <p:spPr>
          <a:xfrm>
            <a:off x="5175504" y="2889504"/>
            <a:ext cx="1810512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Life Safety Broadcast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334155"/>
                </a:solidFill>
                <a:latin typeface="Arial"/>
              </a:rPr>
              <a:t>Civil defense-aligned warning protocols directing evacuations, safe-haven capacities, and hazard havens.</a:t>
            </a:r>
          </a:p>
        </p:txBody>
      </p:sp>
      <p:sp>
        <p:nvSpPr>
          <p:cNvPr id="2097185" name="Rounded Rectangle 2097184"/>
          <p:cNvSpPr/>
          <p:nvPr/>
        </p:nvSpPr>
        <p:spPr>
          <a:xfrm>
            <a:off x="7232904" y="2450592"/>
            <a:ext cx="2029968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86" name="Rounded Rectangle 2097185"/>
          <p:cNvSpPr/>
          <p:nvPr/>
        </p:nvSpPr>
        <p:spPr>
          <a:xfrm>
            <a:off x="7232904" y="2450592"/>
            <a:ext cx="2029968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87" name="TextBox 2097186"/>
          <p:cNvSpPr txBox="1"/>
          <p:nvPr/>
        </p:nvSpPr>
        <p:spPr>
          <a:xfrm>
            <a:off x="7324344" y="2505456"/>
            <a:ext cx="184708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Arial"/>
              </a:rPr>
              <a:t>04. Relief</a:t>
            </a:r>
          </a:p>
        </p:txBody>
      </p:sp>
      <p:sp>
        <p:nvSpPr>
          <p:cNvPr id="2097188" name="TextBox 2097187"/>
          <p:cNvSpPr txBox="1"/>
          <p:nvPr/>
        </p:nvSpPr>
        <p:spPr>
          <a:xfrm>
            <a:off x="7342632" y="2889504"/>
            <a:ext cx="1810512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Civic Logistics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334155"/>
                </a:solidFill>
                <a:latin typeface="Arial"/>
              </a:rPr>
              <a:t>Essential resource shortage tracking (sandbags, clean water) synchronizing NGO aid with municipal logistics.</a:t>
            </a:r>
          </a:p>
        </p:txBody>
      </p:sp>
      <p:sp>
        <p:nvSpPr>
          <p:cNvPr id="2097189" name="Rounded Rectangle 2097188"/>
          <p:cNvSpPr/>
          <p:nvPr/>
        </p:nvSpPr>
        <p:spPr>
          <a:xfrm>
            <a:off x="9400032" y="2450592"/>
            <a:ext cx="2029968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90" name="Rounded Rectangle 2097189"/>
          <p:cNvSpPr/>
          <p:nvPr/>
        </p:nvSpPr>
        <p:spPr>
          <a:xfrm>
            <a:off x="9400032" y="2450592"/>
            <a:ext cx="2029968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91" name="TextBox 2097190"/>
          <p:cNvSpPr txBox="1"/>
          <p:nvPr/>
        </p:nvSpPr>
        <p:spPr>
          <a:xfrm>
            <a:off x="9491472" y="2505456"/>
            <a:ext cx="184708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Arial"/>
              </a:rPr>
              <a:t>05. Farmer AI</a:t>
            </a:r>
          </a:p>
        </p:txBody>
      </p:sp>
      <p:sp>
        <p:nvSpPr>
          <p:cNvPr id="2097192" name="TextBox 2097191"/>
          <p:cNvSpPr txBox="1"/>
          <p:nvPr/>
        </p:nvSpPr>
        <p:spPr>
          <a:xfrm>
            <a:off x="9509760" y="2889504"/>
            <a:ext cx="1810512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Agronomic Guidance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334155"/>
                </a:solidFill>
                <a:latin typeface="Arial"/>
              </a:rPr>
              <a:t>Soil saturation forecasts, crop vulnerability analysis, and precision field drainage guidance.</a:t>
            </a:r>
          </a:p>
        </p:txBody>
      </p:sp>
      <p:sp>
        <p:nvSpPr>
          <p:cNvPr id="2097193" name="Rounded Rectangle 2097192"/>
          <p:cNvSpPr/>
          <p:nvPr/>
        </p:nvSpPr>
        <p:spPr>
          <a:xfrm>
            <a:off x="731520" y="5029200"/>
            <a:ext cx="10725912" cy="12801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94" name="TextBox 2097193"/>
          <p:cNvSpPr txBox="1"/>
          <p:nvPr/>
        </p:nvSpPr>
        <p:spPr>
          <a:xfrm>
            <a:off x="960120" y="5138928"/>
            <a:ext cx="10268712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06B6D4"/>
                </a:solidFill>
                <a:latin typeface="Arial"/>
              </a:rPr>
              <a:t>CRITICAL SCIENTIFIC &amp; CONCEPTUAL DISTINCTION IN R.A.I.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  <a:latin typeface="Arial"/>
              </a:rPr>
              <a:t>• Ordinary Precipitation Probability (e.g. 57%–75%): Chance of any measurable rain (≥0.1 mm) in the forecast window.
• Extreme Heavy-Rain ML Risk (e.g. 0.9% vs 1.5% Threshold): Dedicated calibrated XGBoost detecting dangerous deluge (≥64.5 mm/day).
⇒ R.A.I. never conflates these two metrics — ensuring clear, accurate risk comprehension without false public panic.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5" name="Picture 11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9780086" y="1500"/>
            <a:ext cx="2249850" cy="1062337"/>
          </a:xfrm>
          <a:prstGeom prst="rect"/>
        </p:spPr>
      </p:pic>
      <p:sp>
        <p:nvSpPr>
          <p:cNvPr id="2097156" name="TextBox 2097155"/>
          <p:cNvSpPr txBox="1"/>
          <p:nvPr/>
        </p:nvSpPr>
        <p:spPr>
          <a:xfrm>
            <a:off x="731520" y="219456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0891B2"/>
                </a:solidFill>
                <a:latin typeface="Arial"/>
              </a:rPr>
              <a:t>SMART INDIA HACKATHON 2026 • PROJECT R.A.I.</a:t>
            </a:r>
          </a:p>
        </p:txBody>
      </p:sp>
      <p:sp>
        <p:nvSpPr>
          <p:cNvPr id="2097157" name="TextBox 2097156"/>
          <p:cNvSpPr txBox="1"/>
          <p:nvPr/>
        </p:nvSpPr>
        <p:spPr>
          <a:xfrm>
            <a:off x="731520" y="493776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350" b="1">
                <a:solidFill>
                  <a:srgbClr val="0F172A"/>
                </a:solidFill>
                <a:latin typeface="Arial"/>
              </a:rPr>
              <a:t>TECHNICAL APPROACH: ML PIPELINE, XAI &amp; KNOWLEDGE RETRIEVAL</a:t>
            </a:r>
          </a:p>
        </p:txBody>
      </p:sp>
      <p:sp>
        <p:nvSpPr>
          <p:cNvPr id="2097158" name="Rectangle 2097157"/>
          <p:cNvSpPr/>
          <p:nvPr/>
        </p:nvSpPr>
        <p:spPr>
          <a:xfrm>
            <a:off x="731520" y="6446520"/>
            <a:ext cx="1072591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59" name="TextBox 2097158"/>
          <p:cNvSpPr txBox="1"/>
          <p:nvPr/>
        </p:nvSpPr>
        <p:spPr>
          <a:xfrm>
            <a:off x="731520" y="6510528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Arial"/>
              </a:rPr>
              <a:t>R.A.I. — Explainable AI-Based Rainfall Intelligence &amp; Decision Support</a:t>
            </a:r>
          </a:p>
        </p:txBody>
      </p:sp>
      <p:sp>
        <p:nvSpPr>
          <p:cNvPr id="2097160" name="TextBox 2097159"/>
          <p:cNvSpPr txBox="1"/>
          <p:nvPr/>
        </p:nvSpPr>
        <p:spPr>
          <a:xfrm>
            <a:off x="10515600" y="6510528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50" b="1">
                <a:solidFill>
                  <a:srgbClr val="0891B2"/>
                </a:solidFill>
                <a:latin typeface="Arial"/>
              </a:rPr>
              <a:t>3 / 6</a:t>
            </a:r>
          </a:p>
        </p:txBody>
      </p:sp>
      <p:sp>
        <p:nvSpPr>
          <p:cNvPr id="2097161" name="Rounded Rectangle 2097160"/>
          <p:cNvSpPr/>
          <p:nvPr/>
        </p:nvSpPr>
        <p:spPr>
          <a:xfrm>
            <a:off x="731520" y="1170432"/>
            <a:ext cx="3401568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2" name="TextBox 2097161"/>
          <p:cNvSpPr txBox="1"/>
          <p:nvPr/>
        </p:nvSpPr>
        <p:spPr>
          <a:xfrm>
            <a:off x="914400" y="1335024"/>
            <a:ext cx="3035808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50" b="1">
                <a:solidFill>
                  <a:srgbClr val="0891B2"/>
                </a:solidFill>
                <a:latin typeface="Arial"/>
              </a:rPr>
              <a:t>1. CALIBRATED ML ENGINE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Production Model: </a:t>
            </a:r>
            <a:r>
              <a:rPr sz="1100" b="0">
                <a:solidFill>
                  <a:srgbClr val="334155"/>
                </a:solidFill>
                <a:latin typeface="Arial"/>
              </a:rPr>
              <a:t>RAI-HeavyRain-XGBoost-IMD (v1.0.0-sih-xgb)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14-Feature Vector: </a:t>
            </a:r>
            <a:r>
              <a:rPr sz="1100" b="0">
                <a:solidFill>
                  <a:srgbClr val="334155"/>
                </a:solidFill>
                <a:latin typeface="Arial"/>
              </a:rPr>
              <a:t>Surface pressure, wind vectors, dewpoint, 3-layer cloud cover, humidity, historical delta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Heavy-Rain Target: </a:t>
            </a:r>
            <a:r>
              <a:rPr sz="1100" b="0">
                <a:solidFill>
                  <a:srgbClr val="334155"/>
                </a:solidFill>
                <a:latin typeface="Arial"/>
              </a:rPr>
              <a:t>≥64.5 mm/day (IMD Extreme Benchmark)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Operational Threshold: </a:t>
            </a:r>
            <a:r>
              <a:rPr sz="1100" b="0">
                <a:solidFill>
                  <a:srgbClr val="334155"/>
                </a:solidFill>
                <a:latin typeface="Arial"/>
              </a:rPr>
              <a:t>0.0150 (1.5% calibrated threshold)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Calibration Method: </a:t>
            </a:r>
            <a:r>
              <a:rPr sz="1100" b="0">
                <a:solidFill>
                  <a:srgbClr val="334155"/>
                </a:solidFill>
                <a:latin typeface="Arial"/>
              </a:rPr>
              <a:t>Isotonic Regression (Zadrozny &amp; Elkan)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IMD Rainfall Tiers: </a:t>
            </a:r>
            <a:r>
              <a:rPr sz="1100" b="0">
                <a:solidFill>
                  <a:srgbClr val="334155"/>
                </a:solidFill>
                <a:latin typeface="Arial"/>
              </a:rPr>
              <a:t>Light (0.1–7.5), Moderate (7.6–64.4), Heavy (64.5–115.5), Very Heavy (115.6–204.4), Extreme (≥204.5 mm)</a:t>
            </a:r>
          </a:p>
        </p:txBody>
      </p:sp>
      <p:sp>
        <p:nvSpPr>
          <p:cNvPr id="2097163" name="Rounded Rectangle 2097162"/>
          <p:cNvSpPr/>
          <p:nvPr/>
        </p:nvSpPr>
        <p:spPr>
          <a:xfrm>
            <a:off x="4389120" y="1170432"/>
            <a:ext cx="3401568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4" name="TextBox 2097163"/>
          <p:cNvSpPr txBox="1"/>
          <p:nvPr/>
        </p:nvSpPr>
        <p:spPr>
          <a:xfrm>
            <a:off x="4572000" y="1335024"/>
            <a:ext cx="3035808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50" b="1">
                <a:solidFill>
                  <a:srgbClr val="0284C7"/>
                </a:solidFill>
                <a:latin typeface="Arial"/>
              </a:rPr>
              <a:t>2. EXPLAINABLE AI (XAI)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Explainability Engine: </a:t>
            </a:r>
            <a:r>
              <a:rPr sz="1100" b="0">
                <a:solidFill>
                  <a:srgbClr val="334155"/>
                </a:solidFill>
                <a:latin typeface="Arial"/>
              </a:rPr>
              <a:t>TreeSHAP Additive Attributions (Lundberg &amp; Lee)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Attribution Output: </a:t>
            </a:r>
            <a:r>
              <a:rPr sz="1100" b="0">
                <a:solidFill>
                  <a:srgbClr val="334155"/>
                </a:solidFill>
                <a:latin typeface="Arial"/>
              </a:rPr>
              <a:t>Exact numerical SHAP values per atmospheric feature (+/− impact on log-odds)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Dual Factor Breakdown: </a:t>
            </a:r>
            <a:r>
              <a:rPr sz="1100" b="0">
                <a:solidFill>
                  <a:srgbClr val="334155"/>
                </a:solidFill>
                <a:latin typeface="Arial"/>
              </a:rPr>
              <a:t>Increasing factors (pressure drop, moisture surge) vs Reducing factors (dry wind)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Scientific Safety Rule: </a:t>
            </a:r>
            <a:r>
              <a:rPr sz="1100" b="0">
                <a:solidFill>
                  <a:srgbClr val="334155"/>
                </a:solidFill>
                <a:latin typeface="Arial"/>
              </a:rPr>
              <a:t>TreeSHAP quantifies statistical association with model predictions — it does NOT claim physical causation.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Natural Interpretation: </a:t>
            </a:r>
            <a:r>
              <a:rPr sz="1100" b="0">
                <a:solidFill>
                  <a:srgbClr val="334155"/>
                </a:solidFill>
                <a:latin typeface="Arial"/>
              </a:rPr>
              <a:t>Translates raw feature math into plain Hindi &amp; English natural language summaries.</a:t>
            </a:r>
          </a:p>
        </p:txBody>
      </p:sp>
      <p:sp>
        <p:nvSpPr>
          <p:cNvPr id="2097165" name="Rounded Rectangle 2097164"/>
          <p:cNvSpPr/>
          <p:nvPr/>
        </p:nvSpPr>
        <p:spPr>
          <a:xfrm>
            <a:off x="8046720" y="1170432"/>
            <a:ext cx="3401568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6" name="TextBox 2097165"/>
          <p:cNvSpPr txBox="1"/>
          <p:nvPr/>
        </p:nvSpPr>
        <p:spPr>
          <a:xfrm>
            <a:off x="8229600" y="1335024"/>
            <a:ext cx="3035808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50" b="1">
                <a:solidFill>
                  <a:srgbClr val="10B981"/>
                </a:solidFill>
                <a:latin typeface="Arial"/>
              </a:rPr>
              <a:t>3. KNOWLEDGE &amp; DIALOGUE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Knowledge Base: </a:t>
            </a:r>
            <a:r>
              <a:rPr sz="1100" b="0">
                <a:solidFill>
                  <a:srgbClr val="334155"/>
                </a:solidFill>
                <a:latin typeface="Arial"/>
              </a:rPr>
              <a:t>35,857 structured meteorological &amp; agronomic domain records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Retrieval Architecture: </a:t>
            </a:r>
            <a:r>
              <a:rPr sz="1100" b="0">
                <a:solidFill>
                  <a:srgbClr val="334155"/>
                </a:solidFill>
                <a:latin typeface="Arial"/>
              </a:rPr>
              <a:t>Token inverted indexing, normalized routing, TF-IDF/BM25 weighting &amp; category boost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Conversational AI: </a:t>
            </a:r>
            <a:r>
              <a:rPr sz="1100" b="0">
                <a:solidFill>
                  <a:srgbClr val="334155"/>
                </a:solidFill>
                <a:latin typeface="Arial"/>
              </a:rPr>
              <a:t>Multi-turn context memory, typo/Hinglish tolerance, proactive follow-up suggestions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Telemetry Injection: </a:t>
            </a:r>
            <a:r>
              <a:rPr sz="1100" b="0">
                <a:solidFill>
                  <a:srgbClr val="334155"/>
                </a:solidFill>
                <a:latin typeface="Arial"/>
              </a:rPr>
              <a:t>Live Open-Meteo values automatically embedded into knowledge responses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Bilingual Parity: </a:t>
            </a:r>
            <a:r>
              <a:rPr sz="1100" b="0">
                <a:solidFill>
                  <a:srgbClr val="334155"/>
                </a:solidFill>
                <a:latin typeface="Arial"/>
              </a:rPr>
              <a:t>Full English &amp; natural conversational Hindi support across all 5 pillars</a:t>
            </a:r>
          </a:p>
        </p:txBody>
      </p:sp>
      <p:sp>
        <p:nvSpPr>
          <p:cNvPr id="2097167" name="Rounded Rectangle 2097166"/>
          <p:cNvSpPr/>
          <p:nvPr/>
        </p:nvSpPr>
        <p:spPr>
          <a:xfrm>
            <a:off x="731520" y="5376672"/>
            <a:ext cx="10725912" cy="932688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8" name="TextBox 2097167"/>
          <p:cNvSpPr txBox="1"/>
          <p:nvPr/>
        </p:nvSpPr>
        <p:spPr>
          <a:xfrm>
            <a:off x="914400" y="5468112"/>
            <a:ext cx="10360152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0891B2"/>
                </a:solidFill>
                <a:latin typeface="Arial"/>
              </a:rPr>
              <a:t>END-TO-END DATAFLOW PIPELINE ARCHITECTURE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Live Telemetry → 14-Feature Production Transform → XGBoost Probability → Isotonic Calibration (1.5% Threshold) → TreeSHAP Attributions → Spatial Hydro-Mapping → Farmer/Emergency Advisory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Picture 10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9780086" y="1500"/>
            <a:ext cx="2249850" cy="1062337"/>
          </a:xfrm>
          <a:prstGeom prst="rect"/>
        </p:spPr>
      </p:pic>
      <p:sp>
        <p:nvSpPr>
          <p:cNvPr id="2097155" name="TextBox 2097154"/>
          <p:cNvSpPr txBox="1"/>
          <p:nvPr/>
        </p:nvSpPr>
        <p:spPr>
          <a:xfrm>
            <a:off x="731520" y="219456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0891B2"/>
                </a:solidFill>
                <a:latin typeface="Arial"/>
              </a:rPr>
              <a:t>SMART INDIA HACKATHON 2026 • PROJECT R.A.I.</a:t>
            </a:r>
          </a:p>
        </p:txBody>
      </p:sp>
      <p:sp>
        <p:nvSpPr>
          <p:cNvPr id="2097156" name="TextBox 2097155"/>
          <p:cNvSpPr txBox="1"/>
          <p:nvPr/>
        </p:nvSpPr>
        <p:spPr>
          <a:xfrm>
            <a:off x="731520" y="493776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350" b="1">
                <a:solidFill>
                  <a:srgbClr val="0F172A"/>
                </a:solidFill>
                <a:latin typeface="Arial"/>
              </a:rPr>
              <a:t>FEASIBILITY &amp; VIABILITY: IMPLEMENTED • TESTED • VERIFIABLE</a:t>
            </a:r>
          </a:p>
        </p:txBody>
      </p:sp>
      <p:sp>
        <p:nvSpPr>
          <p:cNvPr id="2097157" name="Rectangle 2097156"/>
          <p:cNvSpPr/>
          <p:nvPr/>
        </p:nvSpPr>
        <p:spPr>
          <a:xfrm>
            <a:off x="731520" y="6446520"/>
            <a:ext cx="1072591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58" name="TextBox 2097157"/>
          <p:cNvSpPr txBox="1"/>
          <p:nvPr/>
        </p:nvSpPr>
        <p:spPr>
          <a:xfrm>
            <a:off x="731520" y="6510528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Arial"/>
              </a:rPr>
              <a:t>R.A.I. — Explainable AI-Based Rainfall Intelligence &amp; Decision Support</a:t>
            </a:r>
          </a:p>
        </p:txBody>
      </p:sp>
      <p:sp>
        <p:nvSpPr>
          <p:cNvPr id="2097159" name="TextBox 2097158"/>
          <p:cNvSpPr txBox="1"/>
          <p:nvPr/>
        </p:nvSpPr>
        <p:spPr>
          <a:xfrm>
            <a:off x="10515600" y="6510528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50" b="1">
                <a:solidFill>
                  <a:srgbClr val="0891B2"/>
                </a:solidFill>
                <a:latin typeface="Arial"/>
              </a:rPr>
              <a:t>4 / 6</a:t>
            </a:r>
          </a:p>
        </p:txBody>
      </p:sp>
      <p:sp>
        <p:nvSpPr>
          <p:cNvPr id="2097160" name="TextBox 2097159"/>
          <p:cNvSpPr txBox="1"/>
          <p:nvPr/>
        </p:nvSpPr>
        <p:spPr>
          <a:xfrm>
            <a:off x="731520" y="1078992"/>
            <a:ext cx="1072591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50">
                <a:solidFill>
                  <a:srgbClr val="334155"/>
                </a:solidFill>
                <a:latin typeface="Arial"/>
              </a:rPr>
              <a:t>R.A.I. is backed by rigorous automated verification suites, modular architecture, and honest engineering disclosures.</a:t>
            </a:r>
          </a:p>
        </p:txBody>
      </p:sp>
      <p:sp>
        <p:nvSpPr>
          <p:cNvPr id="2097161" name="Rounded Rectangle 2097160"/>
          <p:cNvSpPr/>
          <p:nvPr/>
        </p:nvSpPr>
        <p:spPr>
          <a:xfrm>
            <a:off x="731520" y="1444752"/>
            <a:ext cx="2029968" cy="896112"/>
          </a:xfrm>
          <a:prstGeom prst="roundRect">
            <a:avLst/>
          </a:prstGeom>
          <a:solidFill>
            <a:srgbClr val="F0FDF4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2" name="TextBox 2097161"/>
          <p:cNvSpPr txBox="1"/>
          <p:nvPr/>
        </p:nvSpPr>
        <p:spPr>
          <a:xfrm>
            <a:off x="786384" y="1536192"/>
            <a:ext cx="192024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10B981"/>
                </a:solidFill>
                <a:latin typeface="Arial Black"/>
              </a:rPr>
              <a:t>1,262 / 1,262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0F172A"/>
                </a:solidFill>
                <a:latin typeface="Arial"/>
              </a:rPr>
              <a:t>System Assertions Passed</a:t>
            </a:r>
          </a:p>
        </p:txBody>
      </p:sp>
      <p:sp>
        <p:nvSpPr>
          <p:cNvPr id="2097163" name="Rounded Rectangle 2097162"/>
          <p:cNvSpPr/>
          <p:nvPr/>
        </p:nvSpPr>
        <p:spPr>
          <a:xfrm>
            <a:off x="2898648" y="1444752"/>
            <a:ext cx="2029968" cy="896112"/>
          </a:xfrm>
          <a:prstGeom prst="roundRect">
            <a:avLst/>
          </a:prstGeom>
          <a:solidFill>
            <a:srgbClr val="ECFEFF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4" name="TextBox 2097163"/>
          <p:cNvSpPr txBox="1"/>
          <p:nvPr/>
        </p:nvSpPr>
        <p:spPr>
          <a:xfrm>
            <a:off x="2953512" y="1536192"/>
            <a:ext cx="192024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0891B2"/>
                </a:solidFill>
                <a:latin typeface="Arial Black"/>
              </a:rPr>
              <a:t>1,128 / 1,128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0F172A"/>
                </a:solidFill>
                <a:latin typeface="Arial"/>
              </a:rPr>
              <a:t>Knowledge Retrieval Tests</a:t>
            </a:r>
          </a:p>
        </p:txBody>
      </p:sp>
      <p:sp>
        <p:nvSpPr>
          <p:cNvPr id="2097165" name="Rounded Rectangle 2097164"/>
          <p:cNvSpPr/>
          <p:nvPr/>
        </p:nvSpPr>
        <p:spPr>
          <a:xfrm>
            <a:off x="5065776" y="1444752"/>
            <a:ext cx="2029968" cy="896112"/>
          </a:xfrm>
          <a:prstGeom prst="roundRect">
            <a:avLst/>
          </a:prstGeom>
          <a:solidFill>
            <a:srgbClr val="F0F9FF"/>
          </a:solidFill>
          <a:ln w="1587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6" name="TextBox 2097165"/>
          <p:cNvSpPr txBox="1"/>
          <p:nvPr/>
        </p:nvSpPr>
        <p:spPr>
          <a:xfrm>
            <a:off x="5120640" y="1536192"/>
            <a:ext cx="192024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0284C7"/>
                </a:solidFill>
                <a:latin typeface="Arial Black"/>
              </a:rPr>
              <a:t>35 / 35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0F172A"/>
                </a:solidFill>
                <a:latin typeface="Arial"/>
              </a:rPr>
              <a:t>Secure Auth &amp; OTP Tests</a:t>
            </a:r>
          </a:p>
        </p:txBody>
      </p:sp>
      <p:sp>
        <p:nvSpPr>
          <p:cNvPr id="2097167" name="Rounded Rectangle 2097166"/>
          <p:cNvSpPr/>
          <p:nvPr/>
        </p:nvSpPr>
        <p:spPr>
          <a:xfrm>
            <a:off x="7232904" y="1444752"/>
            <a:ext cx="2029968" cy="896112"/>
          </a:xfrm>
          <a:prstGeom prst="roundRect">
            <a:avLst/>
          </a:prstGeom>
          <a:solidFill>
            <a:srgbClr val="F0FDF4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8" name="TextBox 2097167"/>
          <p:cNvSpPr txBox="1"/>
          <p:nvPr/>
        </p:nvSpPr>
        <p:spPr>
          <a:xfrm>
            <a:off x="7287768" y="1536192"/>
            <a:ext cx="192024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10B981"/>
                </a:solidFill>
                <a:latin typeface="Arial Black"/>
              </a:rPr>
              <a:t>34 / 34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0F172A"/>
                </a:solidFill>
                <a:latin typeface="Arial"/>
              </a:rPr>
              <a:t>Bilingual Parity Tests</a:t>
            </a:r>
          </a:p>
        </p:txBody>
      </p:sp>
      <p:sp>
        <p:nvSpPr>
          <p:cNvPr id="2097169" name="Rounded Rectangle 2097168"/>
          <p:cNvSpPr/>
          <p:nvPr/>
        </p:nvSpPr>
        <p:spPr>
          <a:xfrm>
            <a:off x="9400032" y="1444752"/>
            <a:ext cx="2029968" cy="896112"/>
          </a:xfrm>
          <a:prstGeom prst="roundRect">
            <a:avLst/>
          </a:prstGeom>
          <a:solidFill>
            <a:srgbClr val="0F172A"/>
          </a:solidFill>
          <a:ln w="1587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70" name="TextBox 2097169"/>
          <p:cNvSpPr txBox="1"/>
          <p:nvPr/>
        </p:nvSpPr>
        <p:spPr>
          <a:xfrm>
            <a:off x="9454896" y="1536192"/>
            <a:ext cx="192024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06B6D4"/>
                </a:solidFill>
                <a:latin typeface="Arial Black"/>
              </a:rPr>
              <a:t>1,754 Modules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FFFFFF"/>
                </a:solidFill>
                <a:latin typeface="Arial"/>
              </a:rPr>
              <a:t>Compiled (0 Errors)</a:t>
            </a:r>
          </a:p>
        </p:txBody>
      </p:sp>
      <p:sp>
        <p:nvSpPr>
          <p:cNvPr id="2097171" name="Rounded Rectangle 2097170"/>
          <p:cNvSpPr/>
          <p:nvPr/>
        </p:nvSpPr>
        <p:spPr>
          <a:xfrm>
            <a:off x="731520" y="2450592"/>
            <a:ext cx="3401568" cy="3886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72" name="TextBox 2097171"/>
          <p:cNvSpPr txBox="1"/>
          <p:nvPr/>
        </p:nvSpPr>
        <p:spPr>
          <a:xfrm>
            <a:off x="914400" y="2633472"/>
            <a:ext cx="3035808" cy="3520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891B2"/>
                </a:solidFill>
                <a:latin typeface="Arial"/>
              </a:rPr>
              <a:t>TECHNICAL FEASIBILITY</a:t>
            </a:r>
          </a:p>
          <a:p>
            <a:pPr>
              <a:spcBef>
                <a:spcPts val="9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✓ Zero Hardware Deployment: </a:t>
            </a:r>
            <a:r>
              <a:rPr sz="1100" b="0">
                <a:solidFill>
                  <a:srgbClr val="334155"/>
                </a:solidFill>
                <a:latin typeface="Arial"/>
              </a:rPr>
              <a:t>Runs on any modern device using coordinate-based live Open-Meteo telemetry.</a:t>
            </a:r>
          </a:p>
          <a:p>
            <a:pPr>
              <a:spcBef>
                <a:spcPts val="9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✓ Modular Architecture: </a:t>
            </a:r>
            <a:r>
              <a:rPr sz="1100" b="0">
                <a:solidFill>
                  <a:srgbClr val="334155"/>
                </a:solidFill>
                <a:latin typeface="Arial"/>
              </a:rPr>
              <a:t>Clean separation of ML inference, spatial rendering, conversational routing, and auth layers.</a:t>
            </a:r>
          </a:p>
          <a:p>
            <a:pPr>
              <a:spcBef>
                <a:spcPts val="9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✓ Sub-Second Latency: </a:t>
            </a:r>
            <a:r>
              <a:rPr sz="1100" b="0">
                <a:solidFill>
                  <a:srgbClr val="334155"/>
                </a:solidFill>
                <a:latin typeface="Arial"/>
              </a:rPr>
              <a:t>Local in-memory indexing delivers instantaneous knowledge responses (&lt;30ms).</a:t>
            </a:r>
          </a:p>
          <a:p>
            <a:pPr>
              <a:spcBef>
                <a:spcPts val="9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✓ Salted Password Hashing: </a:t>
            </a:r>
            <a:r>
              <a:rPr sz="1100" b="0">
                <a:solidFill>
                  <a:srgbClr val="334155"/>
                </a:solidFill>
                <a:latin typeface="Arial"/>
              </a:rPr>
              <a:t>PBKDF2/Argon2-ready server derivation with unique 128-bit cryptographic salts.</a:t>
            </a:r>
          </a:p>
        </p:txBody>
      </p:sp>
      <p:sp>
        <p:nvSpPr>
          <p:cNvPr id="2097173" name="Rounded Rectangle 2097172"/>
          <p:cNvSpPr/>
          <p:nvPr/>
        </p:nvSpPr>
        <p:spPr>
          <a:xfrm>
            <a:off x="4389120" y="2450592"/>
            <a:ext cx="3401568" cy="3886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74" name="TextBox 2097173"/>
          <p:cNvSpPr txBox="1"/>
          <p:nvPr/>
        </p:nvSpPr>
        <p:spPr>
          <a:xfrm>
            <a:off x="4572000" y="2633472"/>
            <a:ext cx="3035808" cy="3520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D97706"/>
                </a:solidFill>
                <a:latin typeface="Arial"/>
              </a:rPr>
              <a:t>ENGINEERING DISCLOSURES</a:t>
            </a:r>
          </a:p>
          <a:p>
            <a:pPr>
              <a:spcBef>
                <a:spcPts val="900"/>
              </a:spcBef>
            </a:pPr>
            <a:r>
              <a:rPr sz="1100" b="1">
                <a:solidFill>
                  <a:srgbClr val="D97706"/>
                </a:solidFill>
                <a:latin typeface="Arial"/>
              </a:rPr>
              <a:t>⚠ Development OTP Simulator: </a:t>
            </a:r>
            <a:r>
              <a:rPr sz="1100" b="0">
                <a:solidFill>
                  <a:srgbClr val="334155"/>
                </a:solidFill>
                <a:latin typeface="Arial"/>
              </a:rPr>
              <a:t>Production delivery requires real SMTP/SMS gateway credentials (e.g. Twilio/SendGrid).</a:t>
            </a:r>
          </a:p>
          <a:p>
            <a:pPr>
              <a:spcBef>
                <a:spcPts val="900"/>
              </a:spcBef>
            </a:pPr>
            <a:r>
              <a:rPr sz="1100" b="1">
                <a:solidFill>
                  <a:srgbClr val="D97706"/>
                </a:solidFill>
                <a:latin typeface="Arial"/>
              </a:rPr>
              <a:t>⚠ Specialized Heavy-Rain ML: </a:t>
            </a:r>
            <a:r>
              <a:rPr sz="1100" b="0">
                <a:solidFill>
                  <a:srgbClr val="334155"/>
                </a:solidFill>
                <a:latin typeface="Arial"/>
              </a:rPr>
              <a:t>Trained specifically for extreme events (≥64.5 mm); does not pretend to forecast general synoptics.</a:t>
            </a:r>
          </a:p>
          <a:p>
            <a:pPr>
              <a:spcBef>
                <a:spcPts val="900"/>
              </a:spcBef>
            </a:pPr>
            <a:r>
              <a:rPr sz="1100" b="1">
                <a:solidFill>
                  <a:srgbClr val="D97706"/>
                </a:solidFill>
                <a:latin typeface="Arial"/>
              </a:rPr>
              <a:t>⚠ Attribution vs Causation: </a:t>
            </a:r>
            <a:r>
              <a:rPr sz="1100" b="0">
                <a:solidFill>
                  <a:srgbClr val="334155"/>
                </a:solidFill>
                <a:latin typeface="Arial"/>
              </a:rPr>
              <a:t>TreeSHAP calculates statistical feature contributions rather than proving physical meteorology.</a:t>
            </a:r>
          </a:p>
          <a:p>
            <a:pPr>
              <a:spcBef>
                <a:spcPts val="900"/>
              </a:spcBef>
            </a:pPr>
            <a:r>
              <a:rPr sz="1100" b="1">
                <a:solidFill>
                  <a:srgbClr val="D97706"/>
                </a:solidFill>
                <a:latin typeface="Arial"/>
              </a:rPr>
              <a:t>⚠ Open Telemetry Dependent: </a:t>
            </a:r>
            <a:r>
              <a:rPr sz="1100" b="0">
                <a:solidFill>
                  <a:srgbClr val="334155"/>
                </a:solidFill>
                <a:latin typeface="Arial"/>
              </a:rPr>
              <a:t>Requires active internet access to synchronize live Open-Meteo forecasts.</a:t>
            </a:r>
          </a:p>
        </p:txBody>
      </p:sp>
      <p:sp>
        <p:nvSpPr>
          <p:cNvPr id="2097175" name="Rounded Rectangle 2097174"/>
          <p:cNvSpPr/>
          <p:nvPr/>
        </p:nvSpPr>
        <p:spPr>
          <a:xfrm>
            <a:off x="8046720" y="2450592"/>
            <a:ext cx="3401568" cy="3886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76" name="TextBox 2097175"/>
          <p:cNvSpPr txBox="1"/>
          <p:nvPr/>
        </p:nvSpPr>
        <p:spPr>
          <a:xfrm>
            <a:off x="8229600" y="2633472"/>
            <a:ext cx="3035808" cy="3520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10B981"/>
                </a:solidFill>
                <a:latin typeface="Arial"/>
              </a:rPr>
              <a:t>FUTURE SCALING ROADMAP</a:t>
            </a:r>
          </a:p>
          <a:p>
            <a:pPr>
              <a:spcBef>
                <a:spcPts val="9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🚀 Multi-Hazard Expansion: </a:t>
            </a:r>
            <a:r>
              <a:rPr sz="1100" b="0">
                <a:solidFill>
                  <a:srgbClr val="334155"/>
                </a:solidFill>
                <a:latin typeface="Arial"/>
              </a:rPr>
              <a:t>Extending ML models to Agricultural Drought, Heatwaves, and Dry-Spell Duration.</a:t>
            </a:r>
          </a:p>
          <a:p>
            <a:pPr>
              <a:spcBef>
                <a:spcPts val="9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🚀 IoT Ground Sensors: </a:t>
            </a:r>
            <a:r>
              <a:rPr sz="1100" b="0">
                <a:solidFill>
                  <a:srgbClr val="334155"/>
                </a:solidFill>
                <a:latin typeface="Arial"/>
              </a:rPr>
              <a:t>Integrating low-cost LoRaWAN soil moisture probes for hyper-local microclimate calibration.</a:t>
            </a:r>
          </a:p>
          <a:p>
            <a:pPr>
              <a:spcBef>
                <a:spcPts val="9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🚀 NDMA &amp; State SDMA APIs: </a:t>
            </a:r>
            <a:r>
              <a:rPr sz="1100" b="0">
                <a:solidFill>
                  <a:srgbClr val="334155"/>
                </a:solidFill>
                <a:latin typeface="Arial"/>
              </a:rPr>
              <a:t>Direct automated webhook alerts to State Disaster Management Authorities.</a:t>
            </a:r>
          </a:p>
          <a:p>
            <a:pPr>
              <a:spcBef>
                <a:spcPts val="9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🚀 Multi-Lingual India: </a:t>
            </a:r>
            <a:r>
              <a:rPr sz="1100" b="0">
                <a:solidFill>
                  <a:srgbClr val="334155"/>
                </a:solidFill>
                <a:latin typeface="Arial"/>
              </a:rPr>
              <a:t>Scaling beyond Hindi/English to Tamil, Telugu, Marathi, Bengali, and Punjabi.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10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9780086" y="1500"/>
            <a:ext cx="2249850" cy="1062337"/>
          </a:xfrm>
          <a:prstGeom prst="rect"/>
        </p:spPr>
      </p:pic>
      <p:sp>
        <p:nvSpPr>
          <p:cNvPr id="2097153" name="TextBox 2097152"/>
          <p:cNvSpPr txBox="1"/>
          <p:nvPr/>
        </p:nvSpPr>
        <p:spPr>
          <a:xfrm>
            <a:off x="731520" y="219456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0891B2"/>
                </a:solidFill>
                <a:latin typeface="Arial"/>
              </a:rPr>
              <a:t>SMART INDIA HACKATHON 2026 • PROJECT R.A.I.</a:t>
            </a:r>
          </a:p>
        </p:txBody>
      </p:sp>
      <p:sp>
        <p:nvSpPr>
          <p:cNvPr id="2097154" name="TextBox 2097153"/>
          <p:cNvSpPr txBox="1"/>
          <p:nvPr/>
        </p:nvSpPr>
        <p:spPr>
          <a:xfrm>
            <a:off x="731520" y="493776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350" b="1">
                <a:solidFill>
                  <a:srgbClr val="0F172A"/>
                </a:solidFill>
                <a:latin typeface="Arial"/>
              </a:rPr>
              <a:t>IMPACT &amp; BENEFITS: CONVERTING INTELLIGENCE INTO DECISIONS</a:t>
            </a:r>
          </a:p>
        </p:txBody>
      </p:sp>
      <p:sp>
        <p:nvSpPr>
          <p:cNvPr id="2097155" name="Rectangle 2097154"/>
          <p:cNvSpPr/>
          <p:nvPr/>
        </p:nvSpPr>
        <p:spPr>
          <a:xfrm>
            <a:off x="731520" y="6446520"/>
            <a:ext cx="1072591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56" name="TextBox 2097155"/>
          <p:cNvSpPr txBox="1"/>
          <p:nvPr/>
        </p:nvSpPr>
        <p:spPr>
          <a:xfrm>
            <a:off x="731520" y="6510528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Arial"/>
              </a:rPr>
              <a:t>R.A.I. — Explainable AI-Based Rainfall Intelligence &amp; Decision Support</a:t>
            </a:r>
          </a:p>
        </p:txBody>
      </p:sp>
      <p:sp>
        <p:nvSpPr>
          <p:cNvPr id="2097157" name="TextBox 2097156"/>
          <p:cNvSpPr txBox="1"/>
          <p:nvPr/>
        </p:nvSpPr>
        <p:spPr>
          <a:xfrm>
            <a:off x="10515600" y="6510528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50" b="1">
                <a:solidFill>
                  <a:srgbClr val="0891B2"/>
                </a:solidFill>
                <a:latin typeface="Arial"/>
              </a:rPr>
              <a:t>5 / 6</a:t>
            </a:r>
          </a:p>
        </p:txBody>
      </p:sp>
      <p:sp>
        <p:nvSpPr>
          <p:cNvPr id="2097158" name="Rounded Rectangle 2097157"/>
          <p:cNvSpPr/>
          <p:nvPr/>
        </p:nvSpPr>
        <p:spPr>
          <a:xfrm>
            <a:off x="731520" y="1170432"/>
            <a:ext cx="2496312" cy="318211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59" name="Rounded Rectangle 2097158"/>
          <p:cNvSpPr/>
          <p:nvPr/>
        </p:nvSpPr>
        <p:spPr>
          <a:xfrm>
            <a:off x="731520" y="1170432"/>
            <a:ext cx="2496312" cy="38404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0" name="TextBox 2097159"/>
          <p:cNvSpPr txBox="1"/>
          <p:nvPr/>
        </p:nvSpPr>
        <p:spPr>
          <a:xfrm>
            <a:off x="822960" y="1225296"/>
            <a:ext cx="231343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🌾 FARMERS &amp; GROWERS</a:t>
            </a:r>
          </a:p>
        </p:txBody>
      </p:sp>
      <p:sp>
        <p:nvSpPr>
          <p:cNvPr id="2097161" name="TextBox 2097160"/>
          <p:cNvSpPr txBox="1"/>
          <p:nvPr/>
        </p:nvSpPr>
        <p:spPr>
          <a:xfrm>
            <a:off x="868680" y="1645920"/>
            <a:ext cx="2221992" cy="2633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0F172A"/>
                </a:solidFill>
                <a:latin typeface="Arial"/>
              </a:rPr>
              <a:t>• Irrigation Timing: </a:t>
            </a:r>
            <a:r>
              <a:rPr sz="1150" b="0">
                <a:solidFill>
                  <a:srgbClr val="334155"/>
                </a:solidFill>
                <a:latin typeface="Arial"/>
              </a:rPr>
              <a:t>Hold irrigation when heavy rain is forecast; saves water and power.</a:t>
            </a:r>
          </a:p>
          <a:p>
            <a:pPr>
              <a:spcBef>
                <a:spcPts val="900"/>
              </a:spcBef>
            </a:pPr>
            <a:r>
              <a:rPr sz="1150" b="1">
                <a:solidFill>
                  <a:srgbClr val="0F172A"/>
                </a:solidFill>
                <a:latin typeface="Arial"/>
              </a:rPr>
              <a:t>• Drainage Protection: </a:t>
            </a:r>
            <a:r>
              <a:rPr sz="1150" b="0">
                <a:solidFill>
                  <a:srgbClr val="334155"/>
                </a:solidFill>
                <a:latin typeface="Arial"/>
              </a:rPr>
              <a:t>Clear field channels before deluge to prevent root rot &amp; crop lodging.</a:t>
            </a:r>
          </a:p>
          <a:p>
            <a:pPr>
              <a:spcBef>
                <a:spcPts val="900"/>
              </a:spcBef>
            </a:pPr>
            <a:r>
              <a:rPr sz="1150" b="1">
                <a:solidFill>
                  <a:srgbClr val="0F172A"/>
                </a:solidFill>
                <a:latin typeface="Arial"/>
              </a:rPr>
              <a:t>• Fertilizer Efficiency: </a:t>
            </a:r>
            <a:r>
              <a:rPr sz="1150" b="0">
                <a:solidFill>
                  <a:srgbClr val="334155"/>
                </a:solidFill>
                <a:latin typeface="Arial"/>
              </a:rPr>
              <a:t>Avoid applying nitrogen before downpours, preventing nutrient runoff.</a:t>
            </a:r>
          </a:p>
        </p:txBody>
      </p:sp>
      <p:sp>
        <p:nvSpPr>
          <p:cNvPr id="2097162" name="Rounded Rectangle 2097161"/>
          <p:cNvSpPr/>
          <p:nvPr/>
        </p:nvSpPr>
        <p:spPr>
          <a:xfrm>
            <a:off x="3474720" y="1170432"/>
            <a:ext cx="2496312" cy="318211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3" name="Rounded Rectangle 2097162"/>
          <p:cNvSpPr/>
          <p:nvPr/>
        </p:nvSpPr>
        <p:spPr>
          <a:xfrm>
            <a:off x="3474720" y="1170432"/>
            <a:ext cx="2496312" cy="384048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4" name="TextBox 2097163"/>
          <p:cNvSpPr txBox="1"/>
          <p:nvPr/>
        </p:nvSpPr>
        <p:spPr>
          <a:xfrm>
            <a:off x="3566160" y="1225296"/>
            <a:ext cx="231343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👥 EVERYDAY CITIZENS</a:t>
            </a:r>
          </a:p>
        </p:txBody>
      </p:sp>
      <p:sp>
        <p:nvSpPr>
          <p:cNvPr id="2097165" name="TextBox 2097164"/>
          <p:cNvSpPr txBox="1"/>
          <p:nvPr/>
        </p:nvSpPr>
        <p:spPr>
          <a:xfrm>
            <a:off x="3611880" y="1645920"/>
            <a:ext cx="2221992" cy="2633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0F172A"/>
                </a:solidFill>
                <a:latin typeface="Arial"/>
              </a:rPr>
              <a:t>• Hourly Precision: </a:t>
            </a:r>
            <a:r>
              <a:rPr sz="1150" b="0">
                <a:solidFill>
                  <a:srgbClr val="334155"/>
                </a:solidFill>
                <a:latin typeface="Arial"/>
              </a:rPr>
              <a:t>Understand rain onset windows for daily commuting and outdoor safety.</a:t>
            </a:r>
          </a:p>
          <a:p>
            <a:pPr>
              <a:spcBef>
                <a:spcPts val="900"/>
              </a:spcBef>
            </a:pPr>
            <a:r>
              <a:rPr sz="1150" b="1">
                <a:solidFill>
                  <a:srgbClr val="0F172A"/>
                </a:solidFill>
                <a:latin typeface="Arial"/>
              </a:rPr>
              <a:t>• Flood Route Safety: </a:t>
            </a:r>
            <a:r>
              <a:rPr sz="1150" b="0">
                <a:solidFill>
                  <a:srgbClr val="334155"/>
                </a:solidFill>
                <a:latin typeface="Arial"/>
              </a:rPr>
              <a:t>Avoid inundation hotspots using live spatial hydrological vectors.</a:t>
            </a:r>
          </a:p>
          <a:p>
            <a:pPr>
              <a:spcBef>
                <a:spcPts val="900"/>
              </a:spcBef>
            </a:pPr>
            <a:r>
              <a:rPr sz="1150" b="1">
                <a:solidFill>
                  <a:srgbClr val="0F172A"/>
                </a:solidFill>
                <a:latin typeface="Arial"/>
              </a:rPr>
              <a:t>• Explainable Alerts: </a:t>
            </a:r>
            <a:r>
              <a:rPr sz="1150" b="0">
                <a:solidFill>
                  <a:srgbClr val="334155"/>
                </a:solidFill>
                <a:latin typeface="Arial"/>
              </a:rPr>
              <a:t>Clear plain-language explanations instead of ambiguous weather jargon.</a:t>
            </a:r>
          </a:p>
        </p:txBody>
      </p:sp>
      <p:sp>
        <p:nvSpPr>
          <p:cNvPr id="2097166" name="Rounded Rectangle 2097165"/>
          <p:cNvSpPr/>
          <p:nvPr/>
        </p:nvSpPr>
        <p:spPr>
          <a:xfrm>
            <a:off x="6217920" y="1170432"/>
            <a:ext cx="2496312" cy="318211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7" name="Rounded Rectangle 2097166"/>
          <p:cNvSpPr/>
          <p:nvPr/>
        </p:nvSpPr>
        <p:spPr>
          <a:xfrm>
            <a:off x="6217920" y="1170432"/>
            <a:ext cx="2496312" cy="38404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8" name="TextBox 2097167"/>
          <p:cNvSpPr txBox="1"/>
          <p:nvPr/>
        </p:nvSpPr>
        <p:spPr>
          <a:xfrm>
            <a:off x="6309360" y="1225296"/>
            <a:ext cx="231343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🚨 EMERGENCY TEAMS</a:t>
            </a:r>
          </a:p>
        </p:txBody>
      </p:sp>
      <p:sp>
        <p:nvSpPr>
          <p:cNvPr id="2097169" name="TextBox 2097168"/>
          <p:cNvSpPr txBox="1"/>
          <p:nvPr/>
        </p:nvSpPr>
        <p:spPr>
          <a:xfrm>
            <a:off x="6355080" y="1645920"/>
            <a:ext cx="2221992" cy="2633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0F172A"/>
                </a:solidFill>
                <a:latin typeface="Arial"/>
              </a:rPr>
              <a:t>• Tiered Warning Protocols: </a:t>
            </a:r>
            <a:r>
              <a:rPr sz="1150" b="0">
                <a:solidFill>
                  <a:srgbClr val="334155"/>
                </a:solidFill>
                <a:latin typeface="Arial"/>
              </a:rPr>
              <a:t>Advisory → Watch → Warning → Evacuation escalation stages.</a:t>
            </a:r>
          </a:p>
          <a:p>
            <a:pPr>
              <a:spcBef>
                <a:spcPts val="900"/>
              </a:spcBef>
            </a:pPr>
            <a:r>
              <a:rPr sz="1150" b="1">
                <a:solidFill>
                  <a:srgbClr val="0F172A"/>
                </a:solidFill>
                <a:latin typeface="Arial"/>
              </a:rPr>
              <a:t>• Safe Haven Capacities: </a:t>
            </a:r>
            <a:r>
              <a:rPr sz="1150" b="0">
                <a:solidFill>
                  <a:srgbClr val="334155"/>
                </a:solidFill>
                <a:latin typeface="Arial"/>
              </a:rPr>
              <a:t>Verified shelter locations with live capacity and routing.</a:t>
            </a:r>
          </a:p>
          <a:p>
            <a:pPr>
              <a:spcBef>
                <a:spcPts val="900"/>
              </a:spcBef>
            </a:pPr>
            <a:r>
              <a:rPr sz="1150" b="1">
                <a:solidFill>
                  <a:srgbClr val="0F172A"/>
                </a:solidFill>
                <a:latin typeface="Arial"/>
              </a:rPr>
              <a:t>• Civil Defense Sync: </a:t>
            </a:r>
            <a:r>
              <a:rPr sz="1150" b="0">
                <a:solidFill>
                  <a:srgbClr val="334155"/>
                </a:solidFill>
                <a:latin typeface="Arial"/>
              </a:rPr>
              <a:t>Rapid resource deployment matching municipal response needs.</a:t>
            </a:r>
          </a:p>
        </p:txBody>
      </p:sp>
      <p:sp>
        <p:nvSpPr>
          <p:cNvPr id="2097170" name="Rounded Rectangle 2097169"/>
          <p:cNvSpPr/>
          <p:nvPr/>
        </p:nvSpPr>
        <p:spPr>
          <a:xfrm>
            <a:off x="8961120" y="1170432"/>
            <a:ext cx="2496312" cy="318211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71" name="Rounded Rectangle 2097170"/>
          <p:cNvSpPr/>
          <p:nvPr/>
        </p:nvSpPr>
        <p:spPr>
          <a:xfrm>
            <a:off x="8961120" y="1170432"/>
            <a:ext cx="2496312" cy="38404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72" name="TextBox 2097171"/>
          <p:cNvSpPr txBox="1"/>
          <p:nvPr/>
        </p:nvSpPr>
        <p:spPr>
          <a:xfrm>
            <a:off x="9052560" y="1225296"/>
            <a:ext cx="231343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🗺️ MUNICIPAL &amp; RELIEF</a:t>
            </a:r>
          </a:p>
        </p:txBody>
      </p:sp>
      <p:sp>
        <p:nvSpPr>
          <p:cNvPr id="2097173" name="TextBox 2097172"/>
          <p:cNvSpPr txBox="1"/>
          <p:nvPr/>
        </p:nvSpPr>
        <p:spPr>
          <a:xfrm>
            <a:off x="9098280" y="1645920"/>
            <a:ext cx="2221992" cy="2633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0F172A"/>
                </a:solidFill>
                <a:latin typeface="Arial"/>
              </a:rPr>
              <a:t>• Catchment Modeling: </a:t>
            </a:r>
            <a:r>
              <a:rPr sz="1150" b="0">
                <a:solidFill>
                  <a:srgbClr val="334155"/>
                </a:solidFill>
                <a:latin typeface="Arial"/>
              </a:rPr>
              <a:t>Predict dynamic run-off vectors before storm drains overflow.</a:t>
            </a:r>
          </a:p>
          <a:p>
            <a:pPr>
              <a:spcBef>
                <a:spcPts val="900"/>
              </a:spcBef>
            </a:pPr>
            <a:r>
              <a:rPr sz="1150" b="1">
                <a:solidFill>
                  <a:srgbClr val="0F172A"/>
                </a:solidFill>
                <a:latin typeface="Arial"/>
              </a:rPr>
              <a:t>• Shortage Tracking: </a:t>
            </a:r>
            <a:r>
              <a:rPr sz="1150" b="0">
                <a:solidFill>
                  <a:srgbClr val="334155"/>
                </a:solidFill>
                <a:latin typeface="Arial"/>
              </a:rPr>
              <a:t>Real-time auditing of essential relief supplies (water, sandbags).</a:t>
            </a:r>
          </a:p>
          <a:p>
            <a:pPr>
              <a:spcBef>
                <a:spcPts val="900"/>
              </a:spcBef>
            </a:pPr>
            <a:r>
              <a:rPr sz="1150" b="1">
                <a:solidFill>
                  <a:srgbClr val="0F172A"/>
                </a:solidFill>
                <a:latin typeface="Arial"/>
              </a:rPr>
              <a:t>• NGO Coordination: </a:t>
            </a:r>
            <a:r>
              <a:rPr sz="1150" b="0">
                <a:solidFill>
                  <a:srgbClr val="334155"/>
                </a:solidFill>
                <a:latin typeface="Arial"/>
              </a:rPr>
              <a:t>Verified distribution hubs to eliminate duplicate aid efforts.</a:t>
            </a:r>
          </a:p>
        </p:txBody>
      </p:sp>
      <p:sp>
        <p:nvSpPr>
          <p:cNvPr id="2097174" name="Rounded Rectangle 2097173"/>
          <p:cNvSpPr/>
          <p:nvPr/>
        </p:nvSpPr>
        <p:spPr>
          <a:xfrm>
            <a:off x="731520" y="4462272"/>
            <a:ext cx="10725912" cy="1847088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75" name="TextBox 2097174"/>
          <p:cNvSpPr txBox="1"/>
          <p:nvPr/>
        </p:nvSpPr>
        <p:spPr>
          <a:xfrm>
            <a:off x="960120" y="4572000"/>
            <a:ext cx="10268712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>
                <a:solidFill>
                  <a:srgbClr val="0891B2"/>
                </a:solidFill>
                <a:latin typeface="Arial"/>
              </a:rPr>
              <a:t>FARMER AI ESTABLISHED DECISION FRAMEWORK &amp; CORE DIFFERENTIATION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0F172A"/>
                </a:solidFill>
                <a:latin typeface="Arial"/>
              </a:rPr>
              <a:t>✓ DO THIS (Recommended): Hold irrigation if heavy precipitation is predicted; inspect and unblock field drainage channels.
✕ AVOID THIS (High Risk): Do not apply water-soluble nitrogen fertilizers immediately before intense rain (prevents leaching).
→ CHECK LATER (Re-assess): Re-evaluate soil saturation 24h post-rainfall before restarting scheduled irrigation cycles.</a:t>
            </a:r>
          </a:p>
          <a:p>
            <a:pPr>
              <a:spcBef>
                <a:spcPts val="700"/>
              </a:spcBef>
            </a:pPr>
            <a:r>
              <a:rPr i="1" sz="1200" b="1">
                <a:solidFill>
                  <a:srgbClr val="0891B2"/>
                </a:solidFill>
                <a:latin typeface="Georgia"/>
              </a:rPr>
              <a:t>“Ordinary weather apps state whether rain is likely. R.A.I. quantifies extreme-rainfall risk, explains contributing atmospheric drivers via XAI, maps spatial flood vectors, and translates intelligence into clear, life-saving decisions.”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3" name="Picture 11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9780086" y="1500"/>
            <a:ext cx="2249850" cy="1062337"/>
          </a:xfrm>
          <a:prstGeom prst="rect"/>
        </p:spPr>
      </p:pic>
      <p:sp>
        <p:nvSpPr>
          <p:cNvPr id="2097154" name="TextBox 2097153"/>
          <p:cNvSpPr txBox="1"/>
          <p:nvPr/>
        </p:nvSpPr>
        <p:spPr>
          <a:xfrm>
            <a:off x="731520" y="219456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0891B2"/>
                </a:solidFill>
                <a:latin typeface="Arial"/>
              </a:rPr>
              <a:t>SMART INDIA HACKATHON 2026 • PROJECT R.A.I.</a:t>
            </a:r>
          </a:p>
        </p:txBody>
      </p:sp>
      <p:sp>
        <p:nvSpPr>
          <p:cNvPr id="2097155" name="TextBox 2097154"/>
          <p:cNvSpPr txBox="1"/>
          <p:nvPr/>
        </p:nvSpPr>
        <p:spPr>
          <a:xfrm>
            <a:off x="731520" y="493776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350" b="1">
                <a:solidFill>
                  <a:srgbClr val="0F172A"/>
                </a:solidFill>
                <a:latin typeface="Arial"/>
              </a:rPr>
              <a:t>RESEARCH FOUNDATIONS &amp; SCIENTIFIC REFERENCES</a:t>
            </a:r>
          </a:p>
        </p:txBody>
      </p:sp>
      <p:sp>
        <p:nvSpPr>
          <p:cNvPr id="2097156" name="Rectangle 2097155"/>
          <p:cNvSpPr/>
          <p:nvPr/>
        </p:nvSpPr>
        <p:spPr>
          <a:xfrm>
            <a:off x="731520" y="6446520"/>
            <a:ext cx="1072591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57" name="TextBox 2097156"/>
          <p:cNvSpPr txBox="1"/>
          <p:nvPr/>
        </p:nvSpPr>
        <p:spPr>
          <a:xfrm>
            <a:off x="731520" y="6510528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Arial"/>
              </a:rPr>
              <a:t>R.A.I. — Explainable AI-Based Rainfall Intelligence &amp; Decision Support</a:t>
            </a:r>
          </a:p>
        </p:txBody>
      </p:sp>
      <p:sp>
        <p:nvSpPr>
          <p:cNvPr id="2097158" name="TextBox 2097157"/>
          <p:cNvSpPr txBox="1"/>
          <p:nvPr/>
        </p:nvSpPr>
        <p:spPr>
          <a:xfrm>
            <a:off x="10515600" y="6510528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50" b="1">
                <a:solidFill>
                  <a:srgbClr val="0891B2"/>
                </a:solidFill>
                <a:latin typeface="Arial"/>
              </a:rPr>
              <a:t>6 / 6</a:t>
            </a:r>
          </a:p>
        </p:txBody>
      </p:sp>
      <p:sp>
        <p:nvSpPr>
          <p:cNvPr id="2097159" name="TextBox 2097158"/>
          <p:cNvSpPr txBox="1"/>
          <p:nvPr/>
        </p:nvSpPr>
        <p:spPr>
          <a:xfrm>
            <a:off x="731520" y="1078992"/>
            <a:ext cx="1072591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50">
                <a:solidFill>
                  <a:srgbClr val="334155"/>
                </a:solidFill>
                <a:latin typeface="Arial"/>
              </a:rPr>
              <a:t>R.A.I. is grounded in peer-reviewed meteorological, machine learning, and explainable AI literature.</a:t>
            </a:r>
          </a:p>
        </p:txBody>
      </p:sp>
      <p:sp>
        <p:nvSpPr>
          <p:cNvPr id="2097160" name="Rounded Rectangle 2097159"/>
          <p:cNvSpPr/>
          <p:nvPr/>
        </p:nvSpPr>
        <p:spPr>
          <a:xfrm>
            <a:off x="731520" y="1536192"/>
            <a:ext cx="5230368" cy="2331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1" name="Rounded Rectangle 2097160"/>
          <p:cNvSpPr/>
          <p:nvPr/>
        </p:nvSpPr>
        <p:spPr>
          <a:xfrm>
            <a:off x="731520" y="1536192"/>
            <a:ext cx="5230368" cy="365760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2" name="TextBox 2097161"/>
          <p:cNvSpPr txBox="1"/>
          <p:nvPr/>
        </p:nvSpPr>
        <p:spPr>
          <a:xfrm>
            <a:off x="841248" y="1591056"/>
            <a:ext cx="501091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1. METEOROLOGY &amp; TELEMETRY STANDARDS</a:t>
            </a:r>
          </a:p>
        </p:txBody>
      </p:sp>
      <p:sp>
        <p:nvSpPr>
          <p:cNvPr id="2097163" name="TextBox 2097162"/>
          <p:cNvSpPr txBox="1"/>
          <p:nvPr/>
        </p:nvSpPr>
        <p:spPr>
          <a:xfrm>
            <a:off x="896112" y="1975104"/>
            <a:ext cx="4901184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F172A"/>
                </a:solidFill>
                <a:latin typeface="Arial"/>
              </a:rPr>
              <a:t>[1] India Meteorological Department (IMD): </a:t>
            </a:r>
            <a:r>
              <a:rPr sz="1100" b="0">
                <a:solidFill>
                  <a:srgbClr val="334155"/>
                </a:solidFill>
                <a:latin typeface="Arial"/>
              </a:rPr>
              <a:t>Rainfall intensity classification criteria &amp; extreme thresholds (Light: 0.1-7.5, Mod: 7.6-64.4, Heavy: 64.5-115.5, Very Heavy: 115.6-204.4, Extreme: ≥204.5 mm/day).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[2] Open-Meteo Weather API: </a:t>
            </a:r>
            <a:r>
              <a:rPr sz="1100" b="0">
                <a:solidFill>
                  <a:srgbClr val="334155"/>
                </a:solidFill>
                <a:latin typeface="Arial"/>
              </a:rPr>
              <a:t>Global Atmospheric Telemetry Documentation (CC BY 4.0), integrating ECMWF Integrated Forecasting System (IFS) and GFS numerical models.</a:t>
            </a:r>
          </a:p>
        </p:txBody>
      </p:sp>
      <p:sp>
        <p:nvSpPr>
          <p:cNvPr id="2097164" name="Rounded Rectangle 2097163"/>
          <p:cNvSpPr/>
          <p:nvPr/>
        </p:nvSpPr>
        <p:spPr>
          <a:xfrm>
            <a:off x="6227064" y="1536192"/>
            <a:ext cx="5230368" cy="2331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5" name="Rounded Rectangle 2097164"/>
          <p:cNvSpPr/>
          <p:nvPr/>
        </p:nvSpPr>
        <p:spPr>
          <a:xfrm>
            <a:off x="6227064" y="1536192"/>
            <a:ext cx="5230368" cy="36576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6" name="TextBox 2097165"/>
          <p:cNvSpPr txBox="1"/>
          <p:nvPr/>
        </p:nvSpPr>
        <p:spPr>
          <a:xfrm>
            <a:off x="6336792" y="1591056"/>
            <a:ext cx="501091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2. MACHINE LEARNING &amp; PROBABILITY CALIBRATION</a:t>
            </a:r>
          </a:p>
        </p:txBody>
      </p:sp>
      <p:sp>
        <p:nvSpPr>
          <p:cNvPr id="2097167" name="TextBox 2097166"/>
          <p:cNvSpPr txBox="1"/>
          <p:nvPr/>
        </p:nvSpPr>
        <p:spPr>
          <a:xfrm>
            <a:off x="6391656" y="1975104"/>
            <a:ext cx="4901184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F172A"/>
                </a:solidFill>
                <a:latin typeface="Arial"/>
              </a:rPr>
              <a:t>[1] Chen, T., &amp; Guestrin, C. (2016): </a:t>
            </a:r>
            <a:r>
              <a:rPr sz="1100" b="0">
                <a:solidFill>
                  <a:srgbClr val="334155"/>
                </a:solidFill>
                <a:latin typeface="Arial"/>
              </a:rPr>
              <a:t>XGBoost: A Scalable Tree Boosting System. In Proceedings of the 22nd ACM SIGKDD International Conference on Knowledge Discovery and Data Mining (KDD).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[2] Zadrozny, B., &amp; Elkan, C. (2002): </a:t>
            </a:r>
            <a:r>
              <a:rPr sz="1100" b="0">
                <a:solidFill>
                  <a:srgbClr val="334155"/>
                </a:solidFill>
                <a:latin typeface="Arial"/>
              </a:rPr>
              <a:t>Transforming classifier scores into accurate multiclass probability estimates (Isotonic Calibration). ACM SIGKDD.</a:t>
            </a:r>
          </a:p>
        </p:txBody>
      </p:sp>
      <p:sp>
        <p:nvSpPr>
          <p:cNvPr id="2097168" name="Rounded Rectangle 2097167"/>
          <p:cNvSpPr/>
          <p:nvPr/>
        </p:nvSpPr>
        <p:spPr>
          <a:xfrm>
            <a:off x="731520" y="4096512"/>
            <a:ext cx="5230368" cy="2331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9" name="Rounded Rectangle 2097168"/>
          <p:cNvSpPr/>
          <p:nvPr/>
        </p:nvSpPr>
        <p:spPr>
          <a:xfrm>
            <a:off x="731520" y="4096512"/>
            <a:ext cx="5230368" cy="3657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70" name="TextBox 2097169"/>
          <p:cNvSpPr txBox="1"/>
          <p:nvPr/>
        </p:nvSpPr>
        <p:spPr>
          <a:xfrm>
            <a:off x="841248" y="4151376"/>
            <a:ext cx="501091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3. EXPLAINABLE ARTIFICIAL INTELLIGENCE (XAI)</a:t>
            </a:r>
          </a:p>
        </p:txBody>
      </p:sp>
      <p:sp>
        <p:nvSpPr>
          <p:cNvPr id="2097171" name="TextBox 2097170"/>
          <p:cNvSpPr txBox="1"/>
          <p:nvPr/>
        </p:nvSpPr>
        <p:spPr>
          <a:xfrm>
            <a:off x="896112" y="4535424"/>
            <a:ext cx="4901184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F172A"/>
                </a:solidFill>
                <a:latin typeface="Arial"/>
              </a:rPr>
              <a:t>[1] Lundberg, S. M., &amp; Lee, S.-I. (2017): </a:t>
            </a:r>
            <a:r>
              <a:rPr sz="1100" b="0">
                <a:solidFill>
                  <a:srgbClr val="334155"/>
                </a:solidFill>
                <a:latin typeface="Arial"/>
              </a:rPr>
              <a:t>A Unified Approach to Interpreting Model Predictions (TreeSHAP). Advances in Neural Information Processing Systems (NeurIPS 30).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[2] Additive Feature Attribution: </a:t>
            </a:r>
            <a:r>
              <a:rPr sz="1100" b="0">
                <a:solidFill>
                  <a:srgbClr val="334155"/>
                </a:solidFill>
                <a:latin typeface="Arial"/>
              </a:rPr>
              <a:t>Game-theoretic Shapley value attribution for tree ensembles, isolating individual atmospheric feature contributions to log-odds predictions.</a:t>
            </a:r>
          </a:p>
        </p:txBody>
      </p:sp>
      <p:sp>
        <p:nvSpPr>
          <p:cNvPr id="2097172" name="Rounded Rectangle 2097171"/>
          <p:cNvSpPr/>
          <p:nvPr/>
        </p:nvSpPr>
        <p:spPr>
          <a:xfrm>
            <a:off x="6227064" y="4096512"/>
            <a:ext cx="5230368" cy="2331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73" name="Rounded Rectangle 2097172"/>
          <p:cNvSpPr/>
          <p:nvPr/>
        </p:nvSpPr>
        <p:spPr>
          <a:xfrm>
            <a:off x="6227064" y="4096512"/>
            <a:ext cx="5230368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74" name="TextBox 2097173"/>
          <p:cNvSpPr txBox="1"/>
          <p:nvPr/>
        </p:nvSpPr>
        <p:spPr>
          <a:xfrm>
            <a:off x="6336792" y="4151376"/>
            <a:ext cx="501091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4. AGRONOMIC &amp; DISASTER DECISION SUPPORT</a:t>
            </a:r>
          </a:p>
        </p:txBody>
      </p:sp>
      <p:sp>
        <p:nvSpPr>
          <p:cNvPr id="2097175" name="TextBox 2097174"/>
          <p:cNvSpPr txBox="1"/>
          <p:nvPr/>
        </p:nvSpPr>
        <p:spPr>
          <a:xfrm>
            <a:off x="6391656" y="4535424"/>
            <a:ext cx="4901184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F172A"/>
                </a:solidFill>
                <a:latin typeface="Arial"/>
              </a:rPr>
              <a:t>[1] Smart India Hackathon (SIH 2026): </a:t>
            </a:r>
            <a:r>
              <a:rPr sz="1100" b="0">
                <a:solidFill>
                  <a:srgbClr val="334155"/>
                </a:solidFill>
                <a:latin typeface="Arial"/>
              </a:rPr>
              <a:t>Government of India AI-Powered Disaster Management, Climate Resilience and Precision Agriculture Challenge Framework.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[2] ICAR Agronomic Literature: </a:t>
            </a:r>
            <a:r>
              <a:rPr sz="1100" b="0">
                <a:solidFill>
                  <a:srgbClr val="334155"/>
                </a:solidFill>
                <a:latin typeface="Arial"/>
              </a:rPr>
              <a:t>Soil moisture saturation thresholds, root lodging dynamics, and crop phenological vulnerability stages under acute precipitation events.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Crowdfunder, Inc.</Company>
  <LinksUpToDate>0</LinksUpToDate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Investor Pitch Deck Template</dc:title>
  <dc:creator>Crowdfunder</dc:creator>
  <cp:lastModifiedBy>ADMIN</cp:lastModifiedBy>
  <dcterms:created xsi:type="dcterms:W3CDTF">2013-12-12T07:46:50Z</dcterms:created>
  <dcterms:modified xsi:type="dcterms:W3CDTF">2026-08-15T18:47:12Z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a4f95452c15f4c069d48b275c87e5c3f_23</vt:lpwstr>
  </property>
</Properties>
</file>